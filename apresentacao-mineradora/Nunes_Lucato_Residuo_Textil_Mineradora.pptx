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14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Relationship Id="rId4" Type="http://schemas.openxmlformats.org/officeDocument/2006/relationships/image" Target="../media/image23.png"/><Relationship Id="rId5" Type="http://schemas.openxmlformats.org/officeDocument/2006/relationships/image" Target="../media/image12.png"/><Relationship Id="rId6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9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4.png"/><Relationship Id="rId7" Type="http://schemas.openxmlformats.org/officeDocument/2006/relationships/image" Target="../media/image30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15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apa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32588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2344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comercial  ·  Setor de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45920"/>
            <a:ext cx="6583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Resíduo têxtil como </a:t>
            </a:r>
          </a:p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Montserrat"/>
              </a:rPr>
              <a:t>combustível alternativo</a:t>
            </a:r>
          </a:p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para a mineração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39319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1148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CAE8"/>
                </a:solidFill>
                <a:latin typeface="Montserrat"/>
              </a:rPr>
              <a:t>Energia de alto poder calorífico, baixo cloro e destinação ambientalmente adequada, com rastreabilidade da coleta à entrega.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40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apresentada pela</a:t>
            </a:r>
          </a:p>
        </p:txBody>
      </p:sp>
      <p:pic>
        <p:nvPicPr>
          <p:cNvPr id="24" name="Picture 2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5715000"/>
            <a:ext cx="1916974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Gestão ambiental especializada em </a:t>
            </a:r>
            <a:r>
              <a:rPr sz="2800" b="1">
                <a:solidFill>
                  <a:srgbClr val="1B1B2F"/>
                </a:solidFill>
                <a:latin typeface="Montserrat"/>
              </a:rPr>
              <a:t>resíduos têxteis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 Nunes &amp; Lucato atua na cadeia de resíduos têxteis com estrutura própria de transformação, equipe treinada e rastreabilidade documental completa, da coleta à destinação final ambientalmente adequada.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971800"/>
            <a:ext cx="5760720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58952" y="3108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432C9"/>
                </a:solidFill>
                <a:latin typeface="Montserrat"/>
              </a:rPr>
              <a:t>Do resíduo ao combustível</a:t>
            </a:r>
            <a:r>
              <a:rPr sz="1400" b="0">
                <a:solidFill>
                  <a:srgbClr val="1B1B2F"/>
                </a:solidFill>
                <a:latin typeface="Montserrat"/>
              </a:rPr>
              <a:t>  ·  com respaldo documental</a:t>
            </a:r>
          </a:p>
        </p:txBody>
      </p:sp>
      <p:pic>
        <p:nvPicPr>
          <p:cNvPr id="8" name="Picture 7" descr="fot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526280" cy="2103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truck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1" y="417880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33271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Coleta e transporte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Com emissão de MTR, dando respaldo legal à logística.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ilter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417880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49040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Triagem 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Separação por composição e retirada de contaminantes.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cissors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417880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64808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granulometria à especificação do forno do cliente.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3886200"/>
            <a:ext cx="2514600" cy="21488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package-check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0576" y="417880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479145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Fornecimento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5202936"/>
            <a:ext cx="1965960" cy="649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padronizados, ensacados e rastreados até a entrega.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O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Aparas têxteis pós-industriais,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prontas para energia</a:t>
            </a:r>
          </a:p>
        </p:txBody>
      </p:sp>
      <p:pic>
        <p:nvPicPr>
          <p:cNvPr id="5" name="Picture 4" descr="f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011680" cy="2514600"/>
          </a:xfrm>
          <a:prstGeom prst="rect">
            <a:avLst/>
          </a:prstGeom>
        </p:spPr>
      </p:pic>
      <p:pic>
        <p:nvPicPr>
          <p:cNvPr id="6" name="Picture 5" descr="fot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1600200"/>
            <a:ext cx="2011680" cy="2514600"/>
          </a:xfrm>
          <a:prstGeom prst="rect">
            <a:avLst/>
          </a:prstGeom>
        </p:spPr>
      </p:pic>
      <p:pic>
        <p:nvPicPr>
          <p:cNvPr id="7" name="Picture 6" descr="foto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600200"/>
            <a:ext cx="201168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4251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Registro fotográfico do material ensacado e estocado em lotes.</a:t>
            </a:r>
          </a:p>
        </p:txBody>
      </p:sp>
      <p:pic>
        <p:nvPicPr>
          <p:cNvPr id="9" name="Picture 8" descr="factory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1618488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6002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Origem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874519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Aparas e sobras de corte da indústria de confecção: material limpo, seco e sem uso prévio.</a:t>
            </a:r>
          </a:p>
        </p:txBody>
      </p:sp>
      <p:pic>
        <p:nvPicPr>
          <p:cNvPr id="12" name="Picture 11" descr="layers_roy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2642616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01000" y="262432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898648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Mistura de aparas de fibras naturais e sintéticas, padronizada por lote para manter o alto PCI.</a:t>
            </a:r>
          </a:p>
        </p:txBody>
      </p:sp>
      <p:pic>
        <p:nvPicPr>
          <p:cNvPr id="15" name="Picture 14" descr="scissors_roy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3666744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01000" y="3648456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922776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Picotado em fragmentos, o que facilita dosagem e alimentação contínua.</a:t>
            </a:r>
          </a:p>
        </p:txBody>
      </p:sp>
      <p:pic>
        <p:nvPicPr>
          <p:cNvPr id="18" name="Picture 17" descr="package_roy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69087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01000" y="4672584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Embalagem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946904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com manuseio simples e estocagem organizada por lote.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2" name="Picture 21" descr="logo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Resultados analíticos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Laudo laboratorial: </a:t>
            </a:r>
            <a:r>
              <a:rPr sz="2800" b="1">
                <a:solidFill>
                  <a:srgbClr val="1B1B2F"/>
                </a:solidFill>
                <a:latin typeface="Montserrat"/>
              </a:rPr>
              <a:t>alto poder calorífico e baixo cloro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Amostra de tecido triturado (matriz resíduo sólido), analisada por laboratório acreditado em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lame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2395728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3432C9"/>
                </a:solidFill>
                <a:latin typeface="Montserrat"/>
              </a:rPr>
              <a:t>9.953,8</a:t>
            </a:r>
            <a:r>
              <a:rPr sz="1400" b="0">
                <a:solidFill>
                  <a:srgbClr val="3432C9"/>
                </a:solidFill>
                <a:latin typeface="Montserrat"/>
              </a:rPr>
              <a:t>  kcal/kg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Poder Calorífico Inferior (PCI, base seca)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mínima: ≥ 1.800 kcal/kg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1031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flask-conical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2395728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087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E86C9"/>
                </a:solidFill>
                <a:latin typeface="Montserrat"/>
              </a:rPr>
              <a:t>&lt; 0,05</a:t>
            </a:r>
            <a:r>
              <a:rPr sz="1400" b="0">
                <a:solidFill>
                  <a:srgbClr val="1E86C9"/>
                </a:solidFill>
                <a:latin typeface="Montserrat"/>
              </a:rPr>
              <a:t> 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Cloro (base seca)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máxima: ≤ 1,0 %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271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82712" y="21031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droplets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2" y="2395728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275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2A87B"/>
                </a:solidFill>
                <a:latin typeface="Montserrat"/>
              </a:rPr>
              <a:t>3,77</a:t>
            </a:r>
            <a:r>
              <a:rPr sz="1400" b="0">
                <a:solidFill>
                  <a:srgbClr val="12A87B"/>
                </a:solidFill>
                <a:latin typeface="Montserrat"/>
              </a:rPr>
              <a:t> 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Umidade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96,23 % de sólidos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2" y="48920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758952" y="5029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PCS: 10.040,0 kcal/kg  ·  </a:t>
            </a:r>
            <a:r>
              <a:rPr sz="1200" b="1">
                <a:solidFill>
                  <a:srgbClr val="3432C9"/>
                </a:solidFill>
                <a:latin typeface="Montserrat"/>
              </a:rPr>
              <a:t>Conclusão do laudo: </a:t>
            </a:r>
            <a:r>
              <a:rPr sz="1200" b="0">
                <a:solidFill>
                  <a:srgbClr val="1B1B2F"/>
                </a:solidFill>
                <a:latin typeface="Montserrat"/>
              </a:rPr>
              <a:t>os parâmetros de PCI e cloro atendem aos limites da Resolução SIMA nº 145/2021 (art. 5º).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4864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Resultado da amostra analisada. O alto PCI vem da mistura de fibras, e a composição é mantida em todos os lotes fornecidos.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Comparativo energético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Mais energia por quilo que 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combustíveis tradicionais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Poder calorífico inferior (kcal/kg)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3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B1B2F"/>
                </a:solidFill>
                <a:latin typeface="Montserrat"/>
              </a:rPr>
              <a:t>Resíduo têxtil Nunes &amp; Lucato (laudo)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2103120"/>
            <a:ext cx="6644414" cy="41148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04934" y="216712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9.954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7063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24912"/>
            <a:ext cx="6408115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8635" y="27889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9.600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39242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Coque de petróleo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346704"/>
            <a:ext cx="534009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0616" y="34107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8.000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14215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Carvão mineral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968496"/>
            <a:ext cx="4005072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403250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6.000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636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Lenha / cavaco de madeira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590288"/>
            <a:ext cx="200253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465429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3.000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25779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Mínimo exigido para CDR (SIMA)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5212079"/>
            <a:ext cx="1201521" cy="411480"/>
          </a:xfrm>
          <a:prstGeom prst="rect">
            <a:avLst/>
          </a:prstGeom>
          <a:solidFill>
            <a:srgbClr val="DDDE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2041" y="5276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760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Combustíveis de comparação: valores típicos de referência, que variam conforme origem e qualidade. Resíduo têxtil: PCI em base seca conforme laudo.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Equivalência energética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B1B2F"/>
                </a:solidFill>
                <a:latin typeface="Montserrat"/>
              </a:rPr>
              <a:t>1 tonelada de resíduo têxtil </a:t>
            </a:r>
            <a:r>
              <a:rPr sz="2800" b="0">
                <a:solidFill>
                  <a:srgbClr val="1B1B2F"/>
                </a:solidFill>
                <a:latin typeface="Montserrat"/>
              </a:rPr>
              <a:t>substitui aproximadamente…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≈ 41,7 GJ de energia por tonelada (PCI 9.953,8 kcal/kg)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uel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84" y="2377440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1,0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óleo combustível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1031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flame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377440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74720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86C9"/>
                </a:solidFill>
                <a:latin typeface="Montserrat"/>
              </a:rPr>
              <a:t>1,2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coque de petróleo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0488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1031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ickaxe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2377440"/>
            <a:ext cx="402336" cy="4023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2A87B"/>
                </a:solidFill>
                <a:latin typeface="Montserrat"/>
              </a:rPr>
              <a:t>1,7 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carvão mineral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wind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2388" y="2377440"/>
            <a:ext cx="402336" cy="4023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06256" y="29260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~1.150 m³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74903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gás natural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8952" y="470916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58952" y="48920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Menos combustível fóssil comprado, </a:t>
            </a:r>
            <a:r>
              <a:rPr sz="1600" b="0">
                <a:solidFill>
                  <a:srgbClr val="1B1B2F"/>
                </a:solidFill>
                <a:latin typeface="Montserrat"/>
              </a:rPr>
              <a:t>com o mesmo aporte térmico no processo.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4864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Estimativa teórica por equivalência de PCI, com base nos valores típicos do slide anterior. Taxa real de substituição a validar em teste de queima.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Aplicações na mineração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Onde o resíduo têxtil </a:t>
            </a:r>
            <a:r>
              <a:rPr sz="2800" b="1">
                <a:solidFill>
                  <a:srgbClr val="1B1B2F"/>
                </a:solidFill>
                <a:latin typeface="Montserrat"/>
              </a:rPr>
              <a:t>gera valor na sua operação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circle-dot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193852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3271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pelotização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do combustível sólido e do gás natural no endurecimento de pelotas.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lame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93852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49040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calcinação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Aporte térmico em fornos de cal e calcinação de calcário e dolomita.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wind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93852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4808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Secadores de minério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Geração de calor para secagem de concentrados e minério úmido.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7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6256" y="1645920"/>
            <a:ext cx="2514600" cy="30175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ctory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1938528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180576" y="2551176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Caldeiras e geradores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962656"/>
            <a:ext cx="196596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Vapor e energia térmica em caldeiras adaptadas a combustível sólido.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89336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04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49834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58952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Uso como substituição parcial, </a:t>
            </a:r>
            <a:r>
              <a:rPr sz="1200" b="0">
                <a:solidFill>
                  <a:srgbClr val="6B6B80"/>
                </a:solidFill>
                <a:latin typeface="Montserrat"/>
              </a:rPr>
              <a:t>iniciando com teste de queima e dosagem controlada, sujeito ao licenciamento ambiental da unidade consumidora.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Benefícios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Vantagens para a </a:t>
            </a:r>
            <a:r>
              <a:rPr sz="2800" b="1">
                <a:solidFill>
                  <a:srgbClr val="1B1B2F"/>
                </a:solidFill>
                <a:latin typeface="Montserrat"/>
              </a:rPr>
              <a:t>mineradora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554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trending-down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184708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3271" y="2459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Redução de custo energético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871215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Energia de alto PCI a um custo competitivo frente aos combustíveis convencionais.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554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uel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84708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45152" y="2459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Menos combustível fóssil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871215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de coque, carvão, óleo ou gás no processo térmico.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1554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leaf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184708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57032" y="2459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Agenda ESG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871215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Economia circular e aterro zero, com indicadores para relatórios de sustentabilidade.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840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hield-check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1" y="413308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33271" y="4745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Baixo teor de cloro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5157216"/>
            <a:ext cx="28803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Menor risco de corrosão e incrustação em fornos e dutos.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3840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lets_roy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413308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45152" y="4745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Baixa umidade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5157216"/>
            <a:ext cx="28803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seco (3,77 %), com energia útil elevada na queima.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82712" y="3840480"/>
            <a:ext cx="3429000" cy="21031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qr-code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4133088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7032" y="47457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Rastreabilidade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5157216"/>
            <a:ext cx="28803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MTR, certificado de destinação e controle por lote, com segurança jurídica.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Fluxo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Como preparamos 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combustível</a:t>
            </a:r>
          </a:p>
        </p:txBody>
      </p:sp>
      <p:sp>
        <p:nvSpPr>
          <p:cNvPr id="5" name="Oval 4"/>
          <p:cNvSpPr/>
          <p:nvPr/>
        </p:nvSpPr>
        <p:spPr>
          <a:xfrm>
            <a:off x="11704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truck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44" y="2130552"/>
            <a:ext cx="402336" cy="402336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208483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5895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Recolhimento na indústria geradora com MTR</a:t>
            </a:r>
          </a:p>
        </p:txBody>
      </p:sp>
      <p:sp>
        <p:nvSpPr>
          <p:cNvPr id="11" name="Oval 10"/>
          <p:cNvSpPr/>
          <p:nvPr/>
        </p:nvSpPr>
        <p:spPr>
          <a:xfrm>
            <a:off x="297637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inbox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684" y="2130552"/>
            <a:ext cx="402336" cy="402336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389077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256489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489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Recebimento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489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Conferência, pesagem e registro</a:t>
            </a:r>
          </a:p>
        </p:txBody>
      </p:sp>
      <p:sp>
        <p:nvSpPr>
          <p:cNvPr id="17" name="Oval 16"/>
          <p:cNvSpPr/>
          <p:nvPr/>
        </p:nvSpPr>
        <p:spPr>
          <a:xfrm>
            <a:off x="478231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ilter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2130552"/>
            <a:ext cx="402336" cy="402336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569671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437083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Triagem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Retirada de contaminantes e metais</a:t>
            </a:r>
          </a:p>
        </p:txBody>
      </p:sp>
      <p:sp>
        <p:nvSpPr>
          <p:cNvPr id="23" name="Oval 22"/>
          <p:cNvSpPr/>
          <p:nvPr/>
        </p:nvSpPr>
        <p:spPr>
          <a:xfrm>
            <a:off x="658825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scissors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564" y="2130552"/>
            <a:ext cx="402336" cy="402336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750265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17677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677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677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Granulometria sob especificação</a:t>
            </a:r>
          </a:p>
        </p:txBody>
      </p:sp>
      <p:sp>
        <p:nvSpPr>
          <p:cNvPr id="29" name="Oval 28"/>
          <p:cNvSpPr/>
          <p:nvPr/>
        </p:nvSpPr>
        <p:spPr>
          <a:xfrm>
            <a:off x="839419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package_roy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4" y="2130552"/>
            <a:ext cx="402336" cy="402336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30859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98271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3432C9"/>
                </a:solidFill>
                <a:latin typeface="Montserrat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Ensacamento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1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por lote</a:t>
            </a:r>
          </a:p>
        </p:txBody>
      </p:sp>
      <p:sp>
        <p:nvSpPr>
          <p:cNvPr id="35" name="Oval 34"/>
          <p:cNvSpPr/>
          <p:nvPr/>
        </p:nvSpPr>
        <p:spPr>
          <a:xfrm>
            <a:off x="102001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A8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sen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0444" y="2130552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788652" y="28803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2A87B"/>
                </a:solidFill>
                <a:latin typeface="Montserrat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8652" y="31272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Expedição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8652" y="3447288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Entrega programada com MTR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" y="4297680"/>
            <a:ext cx="10671048" cy="1417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8952" y="4297680"/>
            <a:ext cx="54864" cy="14173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48056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Estrutura própria de preparação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Área de armazenagem coberta, organizada por lotes, e picotagem própria para adequar o material à alimentação do forno do cliente, com fornecimento regular e programado.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44" name="Picture 43" descr="logo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Capacidade e logística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Fornecimento recorrente de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1.000 toneladas por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Base operacional em São Paulo/SP (Belenzinho), com entrega programada na unidade do cliente.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01168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boxes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2267712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1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3432C9"/>
                </a:solidFill>
                <a:latin typeface="Montserrat"/>
              </a:rPr>
              <a:t>1.000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t/mês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Volume disponível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contínuo e programado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201168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truck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26771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49040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E86C9"/>
                </a:solidFill>
                <a:latin typeface="Montserrat"/>
              </a:rPr>
              <a:t>14</a:t>
            </a:r>
            <a:r>
              <a:rPr sz="1100" b="0">
                <a:solidFill>
                  <a:srgbClr val="1E86C9"/>
                </a:solidFill>
                <a:latin typeface="Montserrat"/>
              </a:rPr>
              <a:t>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Por carga (truck)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carga padronizada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01168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calendar-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26771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64808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2A87B"/>
                </a:solidFill>
                <a:latin typeface="Montserrat"/>
              </a:rPr>
              <a:t>~72</a:t>
            </a:r>
            <a:r>
              <a:rPr sz="1100" b="0">
                <a:solidFill>
                  <a:srgbClr val="12A87B"/>
                </a:solidFill>
                <a:latin typeface="Montserrat"/>
              </a:rPr>
              <a:t> cargas/mês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Entregas mensais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Cerca de 3 cargas por dia útil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6256" y="2011680"/>
            <a:ext cx="2514600" cy="2560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6256" y="201168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zap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226771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180576" y="2788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3432C9"/>
                </a:solidFill>
                <a:latin typeface="Montserrat"/>
              </a:rPr>
              <a:t>~41.700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GJ/mês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Energia disponível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384048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≈ 9,95 bilhões de kcal/mês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8952" y="480060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58952" y="49834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32C9"/>
                </a:solidFill>
                <a:latin typeface="Montserrat"/>
              </a:rPr>
              <a:t>Volume recorrente e escala </a:t>
            </a:r>
            <a:r>
              <a:rPr sz="1300" b="0">
                <a:solidFill>
                  <a:srgbClr val="1B1B2F"/>
                </a:solidFill>
                <a:latin typeface="Montserrat"/>
              </a:rPr>
              <a:t>para substituir parte relevante do combustível do processo, com cronograma de entregas combinado com a operação.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" y="55778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Energia calculada pelo PCI em base seca do laudo (9.953,8 kcal/kg ≈ 41,7 MJ/kg).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4" name="Picture 33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Especificação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Ficha técnica do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produto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58952" y="1554480"/>
          <a:ext cx="10671048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379208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Produto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Resíduo têxtil pós-industrial picotado (mistura de fibras)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Aplicação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Combustível alternativo sólido (substituição parcial)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PCI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9.953,8 kcal/kg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10.040,0 kcal/kg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Cloro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&lt; 0,05 %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Umidade  /  Sólidos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3,77 %  /  96,23 %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Granulometria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Picotado, com dimensão ajustável à especificação do cliente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Embalagem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Sacos de até 30 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Capacidade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Até 1.000 t/mês, em cargas de 14 t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Documentação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Laudo analítico, MTR e certificado de destinação por lote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Rastreabilidade 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conformidade ambiental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ile-text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184708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33271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MTR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Manifesto de Transporte de Resíduos emitido em cada coleta e expedição.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flask-conical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847088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49040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Laudo analítico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Caracterização energética (PCI, cloro, umidade) do material fornecido.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tags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84708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64808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Controle por lote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Registro fotográfico, pesagem e identificação de cada lote.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1554480"/>
            <a:ext cx="2514600" cy="26517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badge-check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1847088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80576" y="2459736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Destinação comprovada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3099816"/>
            <a:ext cx="1965960" cy="923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Certificado de destinação final ambientalmente adequada.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4348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5720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432C9"/>
                </a:solidFill>
                <a:latin typeface="Montserrat"/>
              </a:rPr>
              <a:t>Rastreabilidade completa: </a:t>
            </a:r>
            <a:r>
              <a:rPr sz="1500" b="0">
                <a:solidFill>
                  <a:srgbClr val="1B1B2F"/>
                </a:solidFill>
                <a:latin typeface="Montserrat"/>
              </a:rPr>
              <a:t>da indústria geradora ao forno da mineradora.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Apoio técnico à mineradora nas etapas de licenciamento para uso de combustível derivado de resíduo (ex.: Resolução SIMA nº 47/2020 no Estado de São Paulo).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4" name="Picture 23" descr="logo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Implantação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Próximos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pic>
        <p:nvPicPr>
          <p:cNvPr id="8" name="Picture 7" descr="send_roy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272" y="214884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7552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Envio de amostra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representativo para análise da mineradora.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pic>
        <p:nvPicPr>
          <p:cNvPr id="14" name="Picture 13" descr="flame_ro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4884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4680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Teste de queima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Ensaio controlado no equipamento de destino.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3208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pic>
        <p:nvPicPr>
          <p:cNvPr id="20" name="Picture 19" descr="clipboard-check_roy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214884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21808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Licenciamento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licença para uso do combustível alternativo.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0336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0336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88936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pic>
        <p:nvPicPr>
          <p:cNvPr id="26" name="Picture 25" descr="play_roy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148840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88936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Fornecimento piloto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iniciais com monitoramento de desempenho.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27464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27464" y="1828800"/>
            <a:ext cx="201168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56064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2A87B"/>
                </a:solidFill>
                <a:latin typeface="Montserrat"/>
              </a:rPr>
              <a:t>05</a:t>
            </a:r>
          </a:p>
        </p:txBody>
      </p:sp>
      <p:pic>
        <p:nvPicPr>
          <p:cNvPr id="32" name="Picture 31" descr="handshake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4784" y="2148840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56064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Contrato contínuo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6064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regular e programado.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" y="48920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Solicitamos cotação formal em R$/t </a:t>
            </a:r>
            <a:r>
              <a:rPr sz="1200" b="0">
                <a:solidFill>
                  <a:srgbClr val="6B6B80"/>
                </a:solidFill>
                <a:latin typeface="Montserrat"/>
              </a:rPr>
              <a:t>para o fornecimento de 1.000 t/mês com entrega programada na unidade do cliente. As condições finais serão definidas em reunião.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7" name="Picture 36" descr="logo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im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28016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Nunes &amp; Lucato  · 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0020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Montserrat"/>
              </a:rPr>
              <a:t>Transformar o resíduo têxtil em </a:t>
            </a:r>
            <a:r>
              <a:rPr sz="2200" b="1">
                <a:solidFill>
                  <a:srgbClr val="FFFFFF"/>
                </a:solidFill>
                <a:latin typeface="Montserrat"/>
              </a:rPr>
              <a:t>energia para a mineração</a:t>
            </a:r>
            <a:r>
              <a:rPr sz="2200" b="0">
                <a:solidFill>
                  <a:srgbClr val="FFFFFF"/>
                </a:solidFill>
                <a:latin typeface="Montserrat"/>
              </a:rPr>
              <a:t> reduz custos, diminui o uso de combustíveis fósseis e fortalece a sua </a:t>
            </a:r>
            <a:r>
              <a:rPr sz="2200" b="1">
                <a:solidFill>
                  <a:srgbClr val="FFFFFF"/>
                </a:solidFill>
                <a:latin typeface="Montserrat"/>
              </a:rPr>
              <a:t>agenda de economia circular</a:t>
            </a:r>
            <a:r>
              <a:rPr sz="2200" b="0">
                <a:solidFill>
                  <a:srgbClr val="FFFFFF"/>
                </a:solidFill>
                <a:latin typeface="Montserra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1605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pic>
        <p:nvPicPr>
          <p:cNvPr id="22" name="Picture 21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389120"/>
            <a:ext cx="2108672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CAE8"/>
                </a:solidFill>
                <a:latin typeface="Montserrat"/>
              </a:rPr>
              <a:t>“Transformando resíduos em valor.”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Resíduo têxtil como combustível alternativo para a mineração</dc:title>
  <dc:subject>Proposta comercial Nunes &amp; Lucato</dc:subject>
  <dc:creator>Nunes &amp; Lucato</dc:creator>
  <cp:keywords/>
  <dc:description/>
  <cp:lastModifiedBy>Nunes &amp; Lucato</cp:lastModifiedBy>
  <cp:revision>1</cp:revision>
  <dcterms:created xsi:type="dcterms:W3CDTF">2013-01-27T09:14:16Z</dcterms:created>
  <dcterms:modified xsi:type="dcterms:W3CDTF">2013-01-27T09:15:58Z</dcterms:modified>
  <cp:category/>
</cp:coreProperties>
</file>