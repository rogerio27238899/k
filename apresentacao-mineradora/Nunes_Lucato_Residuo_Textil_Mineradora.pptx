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6.pn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png"/><Relationship Id="rId8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15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 rotWithShape="1">
            <a:gsLst>
              <a:gs pos="0">
                <a:srgbClr val="0B0A1F"/>
              </a:gs>
              <a:gs pos="100000">
                <a:srgbClr val="1E1D7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apa_duo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-1828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-1143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-457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28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914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00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286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971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57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4343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5029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5715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400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7086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58952" y="1325880"/>
            <a:ext cx="292608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170432" y="1234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Proposta comercial  ·  Setor de Mineração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164592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FFFFFF"/>
                </a:solidFill>
                <a:latin typeface="Montserrat"/>
              </a:rPr>
              <a:t>Resíduo têxtil como 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Montserrat"/>
              </a:rPr>
              <a:t>combustível alternativo</a:t>
            </a:r>
          </a:p>
          <a:p>
            <a:pPr algn="l">
              <a:lnSpc>
                <a:spcPct val="110000"/>
              </a:lnSpc>
            </a:pPr>
            <a:r>
              <a:rPr sz="3800" b="0">
                <a:solidFill>
                  <a:srgbClr val="FFFFFF"/>
                </a:solidFill>
                <a:latin typeface="Montserrat"/>
              </a:rPr>
              <a:t>para a mineração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3931920"/>
            <a:ext cx="1005840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58952" y="41148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9CAE8"/>
                </a:solidFill>
                <a:latin typeface="Montserrat"/>
              </a:rPr>
              <a:t>Energia de alto poder calorífico, baixo cloro e destinação ambientalmente adequada, com rastreabilidade da coleta à entrega.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4406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Proposta apresentada pela</a:t>
            </a:r>
          </a:p>
        </p:txBody>
      </p:sp>
      <p:pic>
        <p:nvPicPr>
          <p:cNvPr id="24" name="Picture 2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715000"/>
            <a:ext cx="1916974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Gestão ambiental especializada em </a:t>
            </a:r>
            <a:r>
              <a:rPr sz="2800" b="1">
                <a:solidFill>
                  <a:srgbClr val="1B1B2F"/>
                </a:solidFill>
                <a:latin typeface="Montserrat"/>
              </a:rPr>
              <a:t>resíduos têxteis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A Nunes &amp; Lucato atua na cadeia de resíduos têxteis com estrutura própria de transformação, equipe treinada e rastreabilidade documental completa, da coleta à destinação final ambientalmente adequada.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" y="2971800"/>
            <a:ext cx="5760720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758952" y="31089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432C9"/>
                </a:solidFill>
                <a:latin typeface="Montserrat"/>
              </a:rPr>
              <a:t>Do resíduo ao combustível</a:t>
            </a:r>
            <a:r>
              <a:rPr sz="1400" b="0">
                <a:solidFill>
                  <a:srgbClr val="1B1B2F"/>
                </a:solidFill>
                <a:latin typeface="Montserrat"/>
              </a:rPr>
              <a:t>  ·  com respaldo documental</a:t>
            </a:r>
          </a:p>
        </p:txBody>
      </p:sp>
      <p:pic>
        <p:nvPicPr>
          <p:cNvPr id="8" name="Picture 7" descr="foto_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00200"/>
            <a:ext cx="4526280" cy="2103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truck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17880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3271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Coleta e transporte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Com emissão de MTR, dando respaldo legal à logística.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ilter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17880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40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Triagem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Separação por composição e retirada de contaminantes.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cissors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17880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4808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Picotagem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Adequação da granulometria à especificação do forno do cliente.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3886200"/>
            <a:ext cx="2514600" cy="21488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ackage-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417880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47914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Fornecimento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5202936"/>
            <a:ext cx="1965960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Lotes padronizados, ensacados e rastreados até a entrega.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O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Aparas têxteis pós-industriais,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prontas para energia</a:t>
            </a:r>
          </a:p>
        </p:txBody>
      </p:sp>
      <p:pic>
        <p:nvPicPr>
          <p:cNvPr id="5" name="Picture 4" descr="foto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00200"/>
            <a:ext cx="2011680" cy="2514600"/>
          </a:xfrm>
          <a:prstGeom prst="rect">
            <a:avLst/>
          </a:prstGeom>
        </p:spPr>
      </p:pic>
      <p:pic>
        <p:nvPicPr>
          <p:cNvPr id="6" name="Picture 5" descr="fot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600200"/>
            <a:ext cx="2011680" cy="2514600"/>
          </a:xfrm>
          <a:prstGeom prst="rect">
            <a:avLst/>
          </a:prstGeom>
        </p:spPr>
      </p:pic>
      <p:pic>
        <p:nvPicPr>
          <p:cNvPr id="7" name="Picture 6" descr="foto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600200"/>
            <a:ext cx="2011680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42519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Registro fotográfico do material ensacado e estocado em lotes.</a:t>
            </a:r>
          </a:p>
        </p:txBody>
      </p:sp>
      <p:pic>
        <p:nvPicPr>
          <p:cNvPr id="9" name="Picture 8" descr="factory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618488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0" y="16002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Origem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874519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Aparas e sobras de corte da indústria de confecção: material limpo, seco e sem uso prévio.</a:t>
            </a:r>
          </a:p>
        </p:txBody>
      </p:sp>
      <p:pic>
        <p:nvPicPr>
          <p:cNvPr id="12" name="Picture 11" descr="layers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642616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262432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Composição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98648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Mistura de aparas de fibras naturais e sintéticas, padronizada por lote para manter o alto PCI.</a:t>
            </a:r>
          </a:p>
        </p:txBody>
      </p:sp>
      <p:pic>
        <p:nvPicPr>
          <p:cNvPr id="15" name="Picture 14" descr="scissors_roy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666744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0" y="364845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Forma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922776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Picotado em fragmentos, o que facilita dosagem e alimentação contínua.</a:t>
            </a:r>
          </a:p>
        </p:txBody>
      </p:sp>
      <p:pic>
        <p:nvPicPr>
          <p:cNvPr id="18" name="Picture 17" descr="package_roy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690872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01000" y="4672584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Embalagem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946904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com manuseio simples e estocagem organizada por lote.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2" name="Picture 21" descr="logo_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Resultados analíticos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Laudo laboratorial: </a:t>
            </a:r>
            <a:r>
              <a:rPr sz="2800" b="1">
                <a:solidFill>
                  <a:srgbClr val="1B1B2F"/>
                </a:solidFill>
                <a:latin typeface="Montserrat"/>
              </a:rPr>
              <a:t>alto poder calorífico e baixo cloro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Amostra de tecido triturado (matriz resíduo sólido), analisada por laboratório acreditado em 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03120"/>
            <a:ext cx="34290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lame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395728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3432C9"/>
                </a:solidFill>
                <a:latin typeface="Montserrat"/>
              </a:rPr>
              <a:t>9.953,8</a:t>
            </a:r>
            <a:r>
              <a:rPr sz="1400" b="0">
                <a:solidFill>
                  <a:srgbClr val="3432C9"/>
                </a:solidFill>
                <a:latin typeface="Montserrat"/>
              </a:rPr>
              <a:t>  kcal/kg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Poder Calorífico Inferior (PCI, base seca)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Referência mínima: ≥ 1.800 kcal/kg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103120"/>
            <a:ext cx="34290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flask-conical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39572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9087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E86C9"/>
                </a:solidFill>
                <a:latin typeface="Montserrat"/>
              </a:rPr>
              <a:t>&lt; 0,05</a:t>
            </a:r>
            <a:r>
              <a:rPr sz="1400" b="0">
                <a:solidFill>
                  <a:srgbClr val="1E86C9"/>
                </a:solidFill>
                <a:latin typeface="Montserrat"/>
              </a:rPr>
              <a:t> 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Cloro (base seca)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Referência máxima: ≤ 1,0 %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2103120"/>
            <a:ext cx="3429000" cy="25146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82712" y="2103120"/>
            <a:ext cx="34290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droplet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2" y="2395728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2752" y="24231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2A87B"/>
                </a:solidFill>
                <a:latin typeface="Montserrat"/>
              </a:rPr>
              <a:t>3,77</a:t>
            </a:r>
            <a:r>
              <a:rPr sz="1400" b="0">
                <a:solidFill>
                  <a:srgbClr val="12A87B"/>
                </a:solidFill>
                <a:latin typeface="Montserrat"/>
              </a:rPr>
              <a:t> 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3375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Umidade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9319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96,23 % de sólidos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8952" y="489204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58952" y="5029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PCS: 10.040,0 kcal/kg  ·  </a:t>
            </a:r>
            <a:r>
              <a:rPr sz="1200" b="1">
                <a:solidFill>
                  <a:srgbClr val="3432C9"/>
                </a:solidFill>
                <a:latin typeface="Montserrat"/>
              </a:rPr>
              <a:t>Conclusão do laudo: </a:t>
            </a:r>
            <a:r>
              <a:rPr sz="1200" b="0">
                <a:solidFill>
                  <a:srgbClr val="1B1B2F"/>
                </a:solidFill>
                <a:latin typeface="Montserrat"/>
              </a:rPr>
              <a:t>os parâmetros de PCI e cloro atendem aos limites da Resolução SIMA nº 145/2021 (art. 5º).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4864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Resultado da amostra analisada. O alto PCI vem da mistura de fibras, e a composição é mantida em todos os lotes fornecidos.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Comparativo energético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Mais energia por quilo que 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combustíveis tradicionais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Poder calorífico inferior (kcal/kg)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4883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1B1B2F"/>
                </a:solidFill>
                <a:latin typeface="Montserrat"/>
              </a:rPr>
              <a:t>Resíduo têxtil Nunes &amp; Lucato (laudo)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103120"/>
            <a:ext cx="6644414" cy="411480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4934" y="2167127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9.954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7063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Óleo combustível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24912"/>
            <a:ext cx="6408115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8635" y="27889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9.600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9242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Coque de petróleo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346704"/>
            <a:ext cx="5340096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34107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8.000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14215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Carvão mineral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968496"/>
            <a:ext cx="4005072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032504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6.000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3600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Lenha / cavaco de madeira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4590288"/>
            <a:ext cx="2002536" cy="411480"/>
          </a:xfrm>
          <a:prstGeom prst="rect">
            <a:avLst/>
          </a:prstGeom>
          <a:solidFill>
            <a:srgbClr val="C9CA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465429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3.000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25779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Mínimo exigido para CDR (SIMA)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5212079"/>
            <a:ext cx="1201521" cy="411480"/>
          </a:xfrm>
          <a:prstGeom prst="rect">
            <a:avLst/>
          </a:prstGeom>
          <a:solidFill>
            <a:srgbClr val="DDDE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2041" y="527608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1.800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7607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Combustíveis de comparação: valores típicos de referência, que variam conforme origem e qualidade. Resíduo têxtil: PCI em base seca conforme laudo.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Equivalência energética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1B2F"/>
                </a:solidFill>
                <a:latin typeface="Montserrat"/>
              </a:rPr>
              <a:t>1 tonelada de resíduo têxtil </a:t>
            </a:r>
            <a:r>
              <a:rPr sz="2800" b="0">
                <a:solidFill>
                  <a:srgbClr val="1B1B2F"/>
                </a:solidFill>
                <a:latin typeface="Montserrat"/>
              </a:rPr>
              <a:t>substitui aproximadamente…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≈ 41,7 GJ de energia por tonelada (PCI 9.953,8 kcal/kg)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10312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fuel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84" y="2377440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3432C9"/>
                </a:solidFill>
                <a:latin typeface="Montserrat"/>
              </a:rPr>
              <a:t>1,0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óleo combustível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103120"/>
            <a:ext cx="25146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flam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377440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74720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86C9"/>
                </a:solidFill>
                <a:latin typeface="Montserrat"/>
              </a:rPr>
              <a:t>1,2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coque de petróleo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103120"/>
            <a:ext cx="25146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ickax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2377440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90488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2A87B"/>
                </a:solidFill>
                <a:latin typeface="Montserrat"/>
              </a:rPr>
              <a:t>1,7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carvão mineral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2103120"/>
            <a:ext cx="2514600" cy="23774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6256" y="210312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wind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388" y="2377440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06256" y="292608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3432C9"/>
                </a:solidFill>
                <a:latin typeface="Montserrat"/>
              </a:rPr>
              <a:t>~1.150 m³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749039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B1B2F"/>
                </a:solidFill>
                <a:latin typeface="Montserrat"/>
              </a:rPr>
              <a:t>de gás natural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70916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58952" y="48920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432C9"/>
                </a:solidFill>
                <a:latin typeface="Montserrat"/>
              </a:rPr>
              <a:t>Menos combustível fóssil comprado, </a:t>
            </a:r>
            <a:r>
              <a:rPr sz="1600" b="0">
                <a:solidFill>
                  <a:srgbClr val="1B1B2F"/>
                </a:solidFill>
                <a:latin typeface="Montserrat"/>
              </a:rPr>
              <a:t>com o mesmo aporte térmico no processo.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4864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Estimativa teórica por equivalência de PCI, com base nos valores típicos do slide anterior. Taxa real de substituição a validar em teste de queima.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0" name="Picture 29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Aplicações na mineração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Onde o resíduo têxtil </a:t>
            </a:r>
            <a:r>
              <a:rPr sz="2800" b="1">
                <a:solidFill>
                  <a:srgbClr val="1B1B2F"/>
                </a:solidFill>
                <a:latin typeface="Montserrat"/>
              </a:rPr>
              <a:t>gera valor na sua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ircle-dot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93852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Fornos de pelotização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Substituição parcial do combustível sólido e do gás natural no endurecimento de pelotas.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lam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938528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49040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Fornos de calcinação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Aporte térmico em fornos de cal e calcinação de calcário e dolomita.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win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938528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Secadores de minério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Geração de calor para secagem de concentrados e minério úmido.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1645920"/>
            <a:ext cx="2514600" cy="30175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actory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93852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0576" y="255117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Caldeiras e geradores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962656"/>
            <a:ext cx="196596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Vapor e energia térmica em caldeiras adaptadas a combustível sólido.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" y="498348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58952" y="51206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Uso como substituição parcial, </a:t>
            </a:r>
            <a:r>
              <a:rPr sz="1200" b="0">
                <a:solidFill>
                  <a:srgbClr val="6B6B80"/>
                </a:solidFill>
                <a:latin typeface="Montserrat"/>
              </a:rPr>
              <a:t>iniciando com teste de queima e dosagem controlada, sujeito ao licenciamento ambiental da unidade consumidora.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Benefícios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Vantagens para a </a:t>
            </a:r>
            <a:r>
              <a:rPr sz="2800" b="1">
                <a:solidFill>
                  <a:srgbClr val="1B1B2F"/>
                </a:solidFill>
                <a:latin typeface="Montserrat"/>
              </a:rPr>
              <a:t>mineradora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trending-down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Redução de custo energético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Energia de alto PCI a um custo competitivo frente aos combustíveis convencionais.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uel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84708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5152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Menos combustível fóssil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Substituição parcial de coque, carvão, óleo ou gás no processo térmico.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1554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af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84708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57032" y="2459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Agenda ESG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871215"/>
            <a:ext cx="28803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Economia circular e aterro zero, com indicadores para relatórios de sustentabilidade.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shield-check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1" y="413308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1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Baixo teor de cloro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Menor risco de corrosão e incrustação em fornos e dutos.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droplets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4133088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5152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Baixa umidade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Material seco (3,77 %), com energia útil elevada na queima.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3840480"/>
            <a:ext cx="3429000" cy="21031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qr-cod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4133088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7032" y="47457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Rastreabilidade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5157216"/>
            <a:ext cx="28803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MTR, certificado de destinação e controle por lote, com segurança jurídica.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0" name="Picture 29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Fluxo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Como preparamos o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combustível</a:t>
            </a:r>
          </a:p>
        </p:txBody>
      </p:sp>
      <p:sp>
        <p:nvSpPr>
          <p:cNvPr id="5" name="Oval 4"/>
          <p:cNvSpPr/>
          <p:nvPr/>
        </p:nvSpPr>
        <p:spPr>
          <a:xfrm>
            <a:off x="117043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truck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130552"/>
            <a:ext cx="402336" cy="402336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208483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5895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Recolhimento na indústria geradora com MTR</a:t>
            </a:r>
          </a:p>
        </p:txBody>
      </p:sp>
      <p:sp>
        <p:nvSpPr>
          <p:cNvPr id="11" name="Oval 10"/>
          <p:cNvSpPr/>
          <p:nvPr/>
        </p:nvSpPr>
        <p:spPr>
          <a:xfrm>
            <a:off x="297637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nbox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684" y="2130552"/>
            <a:ext cx="402336" cy="40233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389077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256489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489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Recebimento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489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Conferência, pesagem e registro</a:t>
            </a:r>
          </a:p>
        </p:txBody>
      </p:sp>
      <p:sp>
        <p:nvSpPr>
          <p:cNvPr id="17" name="Oval 16"/>
          <p:cNvSpPr/>
          <p:nvPr/>
        </p:nvSpPr>
        <p:spPr>
          <a:xfrm>
            <a:off x="478231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filter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130552"/>
            <a:ext cx="402336" cy="402336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569671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37083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Triagem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Retirada de contaminantes e metais</a:t>
            </a:r>
          </a:p>
        </p:txBody>
      </p:sp>
      <p:sp>
        <p:nvSpPr>
          <p:cNvPr id="23" name="Oval 22"/>
          <p:cNvSpPr/>
          <p:nvPr/>
        </p:nvSpPr>
        <p:spPr>
          <a:xfrm>
            <a:off x="658825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scissors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2130552"/>
            <a:ext cx="402336" cy="402336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750265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17677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677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Picotagem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677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Granulometria sob especificação</a:t>
            </a:r>
          </a:p>
        </p:txBody>
      </p:sp>
      <p:sp>
        <p:nvSpPr>
          <p:cNvPr id="29" name="Oval 28"/>
          <p:cNvSpPr/>
          <p:nvPr/>
        </p:nvSpPr>
        <p:spPr>
          <a:xfrm>
            <a:off x="839419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432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ackage_roy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2130552"/>
            <a:ext cx="402336" cy="402336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9308592" y="2331720"/>
            <a:ext cx="868680" cy="0"/>
          </a:xfrm>
          <a:prstGeom prst="line">
            <a:avLst/>
          </a:prstGeom>
          <a:ln w="19050">
            <a:solidFill>
              <a:srgbClr val="DDDEE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98271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432C9"/>
                </a:solidFill>
                <a:latin typeface="Montserrat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Ensacamento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por lote</a:t>
            </a:r>
          </a:p>
        </p:txBody>
      </p:sp>
      <p:sp>
        <p:nvSpPr>
          <p:cNvPr id="35" name="Oval 34"/>
          <p:cNvSpPr/>
          <p:nvPr/>
        </p:nvSpPr>
        <p:spPr>
          <a:xfrm>
            <a:off x="10200132" y="19202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A8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en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0444" y="2130552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788652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12A87B"/>
                </a:solidFill>
                <a:latin typeface="Montserrat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8652" y="312724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Expedição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8652" y="344728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Entrega programada com MTR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4297680"/>
            <a:ext cx="10671048" cy="1417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952" y="4297680"/>
            <a:ext cx="54864" cy="1417320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48056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Estrutura própria de preparação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Área de armazenagem coberta, organizada por lotes, e picotagem própria para adequar o material à alimentação do forno do cliente, com fornecimento regular e programado.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44" name="Picture 43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Capacidade e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Fornecimento recorrente de </a:t>
            </a:r>
            <a:r>
              <a:rPr sz="2800" b="1">
                <a:solidFill>
                  <a:srgbClr val="1B1B2F"/>
                </a:solidFill>
                <a:latin typeface="Montserrat"/>
              </a:rPr>
              <a:t>1.000 toneladas por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Base operacional em São Paulo/SP (Belenzinho), com entrega programada na unidade do 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201168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oxes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26771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3271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432C9"/>
                </a:solidFill>
                <a:latin typeface="Montserrat"/>
              </a:rPr>
              <a:t>1.000</a:t>
            </a:r>
            <a:r>
              <a:rPr sz="1100" b="0">
                <a:solidFill>
                  <a:srgbClr val="3432C9"/>
                </a:solidFill>
                <a:latin typeface="Montserrat"/>
              </a:rPr>
              <a:t> t/mês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Volume disponível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Fornecimento contínuo e programado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25146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ru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26771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49040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86C9"/>
                </a:solidFill>
                <a:latin typeface="Montserrat"/>
              </a:rPr>
              <a:t>14</a:t>
            </a:r>
            <a:r>
              <a:rPr sz="1100" b="0">
                <a:solidFill>
                  <a:srgbClr val="1E86C9"/>
                </a:solidFill>
                <a:latin typeface="Montserrat"/>
              </a:rPr>
              <a:t>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Por carga (truck)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Sacos de até 30 kg, carga padronizada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011680"/>
            <a:ext cx="25146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-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267712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64808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A87B"/>
                </a:solidFill>
                <a:latin typeface="Montserrat"/>
              </a:rPr>
              <a:t>~72</a:t>
            </a:r>
            <a:r>
              <a:rPr sz="1100" b="0">
                <a:solidFill>
                  <a:srgbClr val="12A87B"/>
                </a:solidFill>
                <a:latin typeface="Montserrat"/>
              </a:rPr>
              <a:t> cargas/mês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Entregas mensais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Cerca de 3 cargas por dia útil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256" y="2011680"/>
            <a:ext cx="2514600" cy="256032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2011680"/>
            <a:ext cx="25146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zap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2267712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80576" y="27889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432C9"/>
                </a:solidFill>
                <a:latin typeface="Montserrat"/>
              </a:rPr>
              <a:t>~41.700</a:t>
            </a:r>
            <a:r>
              <a:rPr sz="1100" b="0">
                <a:solidFill>
                  <a:srgbClr val="3432C9"/>
                </a:solidFill>
                <a:latin typeface="Montserrat"/>
              </a:rPr>
              <a:t> GJ/mês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3520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Energia disponível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84048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≈ 9,95 bilhões de kcal/mês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480060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58952" y="4983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432C9"/>
                </a:solidFill>
                <a:latin typeface="Montserrat"/>
              </a:rPr>
              <a:t>Volume recorrente e escala </a:t>
            </a:r>
            <a:r>
              <a:rPr sz="1300" b="0">
                <a:solidFill>
                  <a:srgbClr val="1B1B2F"/>
                </a:solidFill>
                <a:latin typeface="Montserrat"/>
              </a:rPr>
              <a:t>para substituir parte relevante do combustível do processo, com cronograma de entregas combinado com a operação.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577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Energia calculada pelo PCI em base seca do laudo (9.953,8 kcal/kg ≈ 41,7 MJ/kg).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4" name="Picture 33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Especificação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Ficha técnica do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produto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1554480"/>
          <a:ext cx="10671048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379208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Produto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Resíduo têxtil pós-industrial picotado (mistura de fibras)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Aplicação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Combustível alternativo sólido (substituição parcial)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PCI (base seca)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9.953,8 kcal/kg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PCS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10.040,0 kcal/kg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Cloro (base seca)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&lt; 0,05 %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Umidade  /  Sólidos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3,77 %  /  96,23 %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Granulometria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Picotado, com dimensão ajustável à especificação do cliente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Embalagem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Sacos de até 30 kg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Capacidade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Até 1.000 t/mês, em cargas de 14 t</a:t>
                      </a:r>
                    </a:p>
                  </a:txBody>
                  <a:tcPr marL="228600" anchor="ctr">
                    <a:solidFill>
                      <a:srgbClr val="F4F5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432C9"/>
                          </a:solidFill>
                          <a:latin typeface="Montserrat"/>
                        </a:rPr>
                        <a:t>Documentação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1B2F"/>
                          </a:solidFill>
                          <a:latin typeface="Montserrat"/>
                        </a:rPr>
                        <a:t>Laudo analítico, MTR e certificado de destinação por lote</a:t>
                      </a:r>
                    </a:p>
                  </a:txBody>
                  <a:tcPr marL="22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Conformidade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Rastreabilidade e </a:t>
            </a:r>
            <a:r>
              <a:rPr sz="2800" b="1">
                <a:solidFill>
                  <a:srgbClr val="1B1B2F"/>
                </a:solidFill>
                <a:latin typeface="Montserrat"/>
              </a:rPr>
              <a:t>conformidade ambiental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file-text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1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MTR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Manifesto de Transporte de Resíduos emitido em cada coleta e expedição.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lask-conical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847088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49040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Laudo analítico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Caracterização energética (PCI, cloro, umidade) do material fornecido.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ags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847088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64808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Controle por lote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Registro fotográfico, pesagem e identificação de cada lote.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1554480"/>
            <a:ext cx="2514600" cy="265176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dge-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1847088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80576" y="2459736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B2F"/>
                </a:solidFill>
                <a:latin typeface="Montserrat"/>
              </a:rPr>
              <a:t>Destinação comprovada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099816"/>
            <a:ext cx="1965960" cy="923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Certificado de destinação final ambientalmente adequada.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4434840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58952" y="45720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3432C9"/>
                </a:solidFill>
                <a:latin typeface="Montserrat"/>
              </a:rPr>
              <a:t>Rastreabilidade completa: </a:t>
            </a:r>
            <a:r>
              <a:rPr sz="1500" b="0">
                <a:solidFill>
                  <a:srgbClr val="1B1B2F"/>
                </a:solidFill>
                <a:latin typeface="Montserrat"/>
              </a:rPr>
              <a:t>da indústria geradora ao forno da mineradora.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80"/>
                </a:solidFill>
                <a:latin typeface="Montserrat"/>
              </a:rPr>
              <a:t>Apoio técnico à mineradora nas etapas de licenciamento para uso de combustível derivado de resíduo (ex.: Resolução SIMA nº 47/2020 no Estado de São Paulo).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4" name="Picture 23" descr="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Amostras para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Enviaremos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15 kg de amostras</a:t>
            </a:r>
            <a:r>
              <a:rPr sz="2800" b="0">
                <a:solidFill>
                  <a:srgbClr val="1B1B2F"/>
                </a:solidFill>
                <a:latin typeface="Montserrat"/>
              </a:rPr>
              <a:t> em três formatos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80"/>
                </a:solidFill>
                <a:latin typeface="Montserrat"/>
              </a:rPr>
              <a:t>5 kg de cada apresentação do material, para análise e teste de queima na sua unidade.</a:t>
            </a:r>
          </a:p>
        </p:txBody>
      </p:sp>
      <p:pic>
        <p:nvPicPr>
          <p:cNvPr id="6" name="Picture 5" descr="amostra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11680"/>
            <a:ext cx="3429000" cy="1920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3931920"/>
            <a:ext cx="342900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cissors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187952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619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Picotado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3432C9"/>
                </a:solidFill>
                <a:latin typeface="Montserrat"/>
              </a:rPr>
              <a:t>5</a:t>
            </a:r>
            <a:r>
              <a:rPr sz="1200" b="0">
                <a:solidFill>
                  <a:srgbClr val="3432C9"/>
                </a:solidFill>
                <a:latin typeface="Montserrat"/>
              </a:rPr>
              <a:t>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Fragmentos de tecido cortados, prontos para alimentação direta.</a:t>
            </a:r>
          </a:p>
        </p:txBody>
      </p:sp>
      <p:pic>
        <p:nvPicPr>
          <p:cNvPr id="13" name="Picture 12" descr="amostra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011680"/>
            <a:ext cx="3429000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37083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3931920"/>
            <a:ext cx="3429000" cy="54864"/>
          </a:xfrm>
          <a:prstGeom prst="rect">
            <a:avLst/>
          </a:prstGeom>
          <a:solidFill>
            <a:srgbClr val="1E8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187952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4807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Moído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1E86C9"/>
                </a:solidFill>
                <a:latin typeface="Montserrat"/>
              </a:rPr>
              <a:t>5</a:t>
            </a:r>
            <a:r>
              <a:rPr sz="1200" b="0">
                <a:solidFill>
                  <a:srgbClr val="1E86C9"/>
                </a:solidFill>
                <a:latin typeface="Montserrat"/>
              </a:rPr>
              <a:t>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Fibra triturada fina, homogênea e de fácil dosagem.</a:t>
            </a:r>
          </a:p>
        </p:txBody>
      </p:sp>
      <p:pic>
        <p:nvPicPr>
          <p:cNvPr id="20" name="Picture 19" descr="amostra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2011680"/>
            <a:ext cx="3429000" cy="19202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82712" y="3931920"/>
            <a:ext cx="3429000" cy="169164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3931920"/>
            <a:ext cx="342900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mountain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418795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59952" y="416052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1B2F"/>
                </a:solidFill>
                <a:latin typeface="Montserrat"/>
              </a:rPr>
              <a:t>Pedra-brita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4432" y="411480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12A87B"/>
                </a:solidFill>
                <a:latin typeface="Montserrat"/>
              </a:rPr>
              <a:t>5</a:t>
            </a:r>
            <a:r>
              <a:rPr sz="1200" b="0">
                <a:solidFill>
                  <a:srgbClr val="12A87B"/>
                </a:solidFill>
                <a:latin typeface="Montserrat"/>
              </a:rPr>
              <a:t>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4754880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Grânulos pequenos e uniformes, densos e de fácil dosagem e estocagem.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7607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80"/>
                </a:solidFill>
                <a:latin typeface="Montserrat"/>
              </a:rPr>
              <a:t>Amostras identificadas por lote e acompanhadas da ficha técnica do material.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29" name="Picture 28" descr="logo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58952" y="594360"/>
            <a:ext cx="292608" cy="0"/>
          </a:xfrm>
          <a:prstGeom prst="line">
            <a:avLst/>
          </a:prstGeom>
          <a:ln w="12700">
            <a:solidFill>
              <a:srgbClr val="3432C9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1170432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3432C9"/>
                </a:solidFill>
                <a:latin typeface="Montserrat"/>
              </a:rPr>
              <a:t>Implantação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1B1B2F"/>
                </a:solidFill>
                <a:latin typeface="Montserrat"/>
              </a:rPr>
              <a:t>Próximos </a:t>
            </a:r>
            <a:r>
              <a:rPr sz="2800" b="1">
                <a:solidFill>
                  <a:srgbClr val="1B1B2F"/>
                </a:solidFill>
                <a:latin typeface="Montserrat"/>
              </a:rPr>
              <a:t>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01</a:t>
            </a:r>
          </a:p>
        </p:txBody>
      </p:sp>
      <p:pic>
        <p:nvPicPr>
          <p:cNvPr id="8" name="Picture 7" descr="send_roy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214884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Envio de amostras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5 kg de picotado, 5 kg de moído e 5 kg de pedra-brita.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02</a:t>
            </a:r>
          </a:p>
        </p:txBody>
      </p:sp>
      <p:pic>
        <p:nvPicPr>
          <p:cNvPr id="14" name="Picture 13" descr="flame_roy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4884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4680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Teste de queima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Ensaio controlado no equipamento de destino.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3208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03</a:t>
            </a:r>
          </a:p>
        </p:txBody>
      </p:sp>
      <p:pic>
        <p:nvPicPr>
          <p:cNvPr id="20" name="Picture 19" descr="clipboard-check_roy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14884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21808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Licenciamento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Adequação da licença para uso do combustível alternativo.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0336" y="1828800"/>
            <a:ext cx="2011680" cy="54864"/>
          </a:xfrm>
          <a:prstGeom prst="rect">
            <a:avLst/>
          </a:prstGeom>
          <a:solidFill>
            <a:srgbClr val="3432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3432C9"/>
                </a:solidFill>
                <a:latin typeface="Montserrat"/>
              </a:rPr>
              <a:t>04</a:t>
            </a:r>
          </a:p>
        </p:txBody>
      </p:sp>
      <p:pic>
        <p:nvPicPr>
          <p:cNvPr id="26" name="Picture 25" descr="play_roy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2148840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88936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Fornecimento piloto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Lotes iniciais com monitoramento de desempenho.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27464" y="1828800"/>
            <a:ext cx="2011680" cy="2743200"/>
          </a:xfrm>
          <a:prstGeom prst="rect">
            <a:avLst/>
          </a:prstGeom>
          <a:solidFill>
            <a:srgbClr val="F4F5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27464" y="1828800"/>
            <a:ext cx="2011680" cy="54864"/>
          </a:xfrm>
          <a:prstGeom prst="rect">
            <a:avLst/>
          </a:prstGeom>
          <a:solidFill>
            <a:srgbClr val="12A8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2A87B"/>
                </a:solidFill>
                <a:latin typeface="Montserrat"/>
              </a:rPr>
              <a:t>05</a:t>
            </a:r>
          </a:p>
        </p:txBody>
      </p:sp>
      <p:pic>
        <p:nvPicPr>
          <p:cNvPr id="32" name="Picture 31" descr="handshake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4784" y="2148840"/>
            <a:ext cx="365760" cy="365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56064" y="27432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1B2F"/>
                </a:solidFill>
                <a:latin typeface="Montserrat"/>
              </a:rPr>
              <a:t>Contrato contínuo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6064" y="333756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80"/>
                </a:solidFill>
                <a:latin typeface="Montserrat"/>
              </a:rPr>
              <a:t>Fornecimento regular e programado.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8920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432C9"/>
                </a:solidFill>
                <a:latin typeface="Montserrat"/>
              </a:rPr>
              <a:t>Solicitamos cotação formal em R$/t </a:t>
            </a:r>
            <a:r>
              <a:rPr sz="1200" b="0">
                <a:solidFill>
                  <a:srgbClr val="6B6B80"/>
                </a:solidFill>
                <a:latin typeface="Montserrat"/>
              </a:rPr>
              <a:t>para o fornecimento de 1.000 t/mês com entrega programada na unidade do cliente. As condições finais serão definidas em reunião.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" y="6199632"/>
            <a:ext cx="10671048" cy="0"/>
          </a:xfrm>
          <a:prstGeom prst="line">
            <a:avLst/>
          </a:prstGeom>
          <a:ln w="9525">
            <a:solidFill>
              <a:srgbClr val="DDDEEE"/>
            </a:solidFill>
          </a:ln>
        </p:spPr>
      </p:cxnSp>
      <p:pic>
        <p:nvPicPr>
          <p:cNvPr id="37" name="Picture 36" descr="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6309360"/>
            <a:ext cx="1150185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0" y="6355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B80"/>
                </a:solidFill>
                <a:latin typeface="Montserrat"/>
              </a:rPr>
              <a:t>Resíduo Têxtil · Mineração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gradFill rotWithShape="1">
            <a:gsLst>
              <a:gs pos="0">
                <a:srgbClr val="0B0A1F"/>
              </a:gs>
              <a:gs pos="100000">
                <a:srgbClr val="1E1D72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fim_duot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-1828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-1143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-457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28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914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00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286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971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57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43434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50292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57150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4008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7086600" y="0"/>
            <a:ext cx="3200400" cy="6858000"/>
          </a:xfrm>
          <a:prstGeom prst="line">
            <a:avLst/>
          </a:prstGeom>
          <a:ln w="6350">
            <a:solidFill>
              <a:srgbClr val="2A2970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58952" y="1280160"/>
            <a:ext cx="292608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1170432" y="11887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C9CAE8"/>
                </a:solidFill>
                <a:latin typeface="Montserrat"/>
              </a:rPr>
              <a:t>Nunes &amp; Lucato  ·  Mineração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1600200"/>
            <a:ext cx="6400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ontserrat"/>
              </a:rPr>
              <a:t>Transformar o resíduo têxtil em </a:t>
            </a:r>
            <a:r>
              <a:rPr sz="2200" b="1">
                <a:solidFill>
                  <a:srgbClr val="FFFFFF"/>
                </a:solidFill>
                <a:latin typeface="Montserrat"/>
              </a:rPr>
              <a:t>energia para a mineração</a:t>
            </a:r>
            <a:r>
              <a:rPr sz="2200" b="0">
                <a:solidFill>
                  <a:srgbClr val="FFFFFF"/>
                </a:solidFill>
                <a:latin typeface="Montserrat"/>
              </a:rPr>
              <a:t> reduz custos, diminui o uso de combustíveis fósseis e fortalece a sua </a:t>
            </a:r>
            <a:r>
              <a:rPr sz="2200" b="1">
                <a:solidFill>
                  <a:srgbClr val="FFFFFF"/>
                </a:solidFill>
                <a:latin typeface="Montserrat"/>
              </a:rPr>
              <a:t>agenda de economia circular</a:t>
            </a:r>
            <a:r>
              <a:rPr sz="2200" b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" y="4160520"/>
            <a:ext cx="1005840" cy="0"/>
          </a:xfrm>
          <a:prstGeom prst="line">
            <a:avLst/>
          </a:prstGeom>
          <a:ln w="12700">
            <a:solidFill>
              <a:srgbClr val="C9CAE8"/>
            </a:solidFill>
          </a:ln>
        </p:spPr>
      </p:cxnSp>
      <p:pic>
        <p:nvPicPr>
          <p:cNvPr id="22" name="Picture 21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389120"/>
            <a:ext cx="2108672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2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CAE8"/>
                </a:solidFill>
                <a:latin typeface="Montserrat"/>
              </a:rPr>
              <a:t>“Transformando resíduos em valor.”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Resíduo têxtil como combustível alternativo para a mineração</dc:title>
  <dc:subject>Proposta comercial Nunes &amp; Lucato</dc:subject>
  <dc:creator>Nunes &amp; Lucato</dc:creator>
  <cp:keywords/>
  <dc:description/>
  <cp:lastModifiedBy>Nunes &amp; Lucato</cp:lastModifiedBy>
  <cp:revision>1</cp:revision>
  <dcterms:created xsi:type="dcterms:W3CDTF">2013-01-27T09:14:16Z</dcterms:created>
  <dcterms:modified xsi:type="dcterms:W3CDTF">2013-01-27T09:15:58Z</dcterms:modified>
  <cp:category/>
</cp:coreProperties>
</file>