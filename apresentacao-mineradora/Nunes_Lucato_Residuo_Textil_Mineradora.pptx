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A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89520" cy="6858000"/>
          </a:xfrm>
          <a:prstGeom prst="rect">
            <a:avLst/>
          </a:prstGeom>
          <a:gradFill rotWithShape="1">
            <a:gsLst>
              <a:gs pos="0">
                <a:srgbClr val="0B0A1F"/>
              </a:gs>
              <a:gs pos="100000">
                <a:srgbClr val="1E1D72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capa_duot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0"/>
            <a:ext cx="4602175" cy="68580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 flipV="1">
            <a:off x="-1828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-1143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-457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28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9144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600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286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971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3657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43434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5029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5715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400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7086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758952" y="1325880"/>
            <a:ext cx="292608" cy="0"/>
          </a:xfrm>
          <a:prstGeom prst="line">
            <a:avLst/>
          </a:prstGeom>
          <a:ln w="12700">
            <a:solidFill>
              <a:srgbClr val="C9CAE8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1170432" y="12344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C9CAE8"/>
                </a:solidFill>
                <a:latin typeface="Montserrat"/>
              </a:rPr>
              <a:t>Proposta comercial  ·  Setor de Mineração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1645920"/>
            <a:ext cx="65836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0">
                <a:solidFill>
                  <a:srgbClr val="FFFFFF"/>
                </a:solidFill>
                <a:latin typeface="Montserrat"/>
              </a:rPr>
              <a:t>Resíduo têxtil como </a:t>
            </a:r>
          </a:p>
          <a:p>
            <a:pPr algn="l">
              <a:lnSpc>
                <a:spcPct val="110000"/>
              </a:lnSpc>
            </a:pPr>
            <a:r>
              <a:rPr sz="3800" b="1">
                <a:solidFill>
                  <a:srgbClr val="FFFFFF"/>
                </a:solidFill>
                <a:latin typeface="Montserrat"/>
              </a:rPr>
              <a:t>combustível alternativo</a:t>
            </a:r>
          </a:p>
          <a:p>
            <a:pPr algn="l">
              <a:lnSpc>
                <a:spcPct val="110000"/>
              </a:lnSpc>
            </a:pPr>
            <a:r>
              <a:rPr sz="3800" b="0">
                <a:solidFill>
                  <a:srgbClr val="FFFFFF"/>
                </a:solidFill>
                <a:latin typeface="Montserrat"/>
              </a:rPr>
              <a:t>para a mineração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8952" y="3931920"/>
            <a:ext cx="1005840" cy="0"/>
          </a:xfrm>
          <a:prstGeom prst="line">
            <a:avLst/>
          </a:prstGeom>
          <a:ln w="12700">
            <a:solidFill>
              <a:srgbClr val="C9CAE8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758952" y="41148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C9CAE8"/>
                </a:solidFill>
                <a:latin typeface="Montserrat"/>
              </a:rPr>
              <a:t>Energia de alto poder calorífico, baixo cloro e destinação ambientalmente adequada, com rastreabilidade da coleta à entrega.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" y="54406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C9CAE8"/>
                </a:solidFill>
                <a:latin typeface="Montserrat"/>
              </a:rPr>
              <a:t>Proposta apresentada pela</a:t>
            </a:r>
          </a:p>
        </p:txBody>
      </p:sp>
      <p:pic>
        <p:nvPicPr>
          <p:cNvPr id="24" name="Picture 23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5715000"/>
            <a:ext cx="1916974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Quem somos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Gestão ambiental especializada em </a:t>
            </a:r>
            <a:r>
              <a:rPr sz="2800" b="1">
                <a:solidFill>
                  <a:srgbClr val="1B1B2F"/>
                </a:solidFill>
                <a:latin typeface="Montserrat"/>
              </a:rPr>
              <a:t>resíduos têxteis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0200"/>
            <a:ext cx="5760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A Nunes &amp; Lucato atua na cadeia de resíduos têxteis com estrutura própria de transformação, equipe treinada e rastreabilidade documental completa, da coleta à destinação final ambientalmente adequada.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58952" y="2971800"/>
            <a:ext cx="5760720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758952" y="310896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432C9"/>
                </a:solidFill>
                <a:latin typeface="Montserrat"/>
              </a:rPr>
              <a:t>Do resíduo ao combustível</a:t>
            </a:r>
            <a:r>
              <a:rPr sz="1400" b="0">
                <a:solidFill>
                  <a:srgbClr val="1B1B2F"/>
                </a:solidFill>
                <a:latin typeface="Montserrat"/>
              </a:rPr>
              <a:t>  ·  com respaldo documental</a:t>
            </a:r>
          </a:p>
        </p:txBody>
      </p:sp>
      <p:pic>
        <p:nvPicPr>
          <p:cNvPr id="8" name="Picture 7" descr="foto_w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00200"/>
            <a:ext cx="4526280" cy="21031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58952" y="3977639"/>
            <a:ext cx="25146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" y="3977639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1" y="4251959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Coleta e transporte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4663440"/>
            <a:ext cx="19659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Com emissão de MTR, dando respaldo legal à logística.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3977639"/>
            <a:ext cx="25146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74720" y="3977639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0" y="4251959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Triagem técnica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4663440"/>
            <a:ext cx="19659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Separação por composição e retirada de contaminantes.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3977639"/>
            <a:ext cx="25146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0488" y="3977639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4251959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Picotagem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4663440"/>
            <a:ext cx="19659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Adequação da granulometria à especificação do forno do cliente.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06256" y="3977639"/>
            <a:ext cx="25146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06256" y="3977639"/>
            <a:ext cx="25146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4251959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Fornecimento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0576" y="4663440"/>
            <a:ext cx="19659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Lotes padronizados, ensacados e rastreados até a entrega.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6" name="Picture 25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O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Aparas têxteis pós-industriais, </a:t>
            </a:r>
            <a:r>
              <a:rPr sz="2800" b="1">
                <a:solidFill>
                  <a:srgbClr val="1B1B2F"/>
                </a:solidFill>
                <a:latin typeface="Montserrat"/>
              </a:rPr>
              <a:t>prontas para energia</a:t>
            </a:r>
          </a:p>
        </p:txBody>
      </p:sp>
      <p:pic>
        <p:nvPicPr>
          <p:cNvPr id="5" name="Picture 4" descr="foto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600200"/>
            <a:ext cx="2011680" cy="2514600"/>
          </a:xfrm>
          <a:prstGeom prst="rect">
            <a:avLst/>
          </a:prstGeom>
        </p:spPr>
      </p:pic>
      <p:pic>
        <p:nvPicPr>
          <p:cNvPr id="6" name="Picture 5" descr="fot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792" y="1600200"/>
            <a:ext cx="2011680" cy="2514600"/>
          </a:xfrm>
          <a:prstGeom prst="rect">
            <a:avLst/>
          </a:prstGeom>
        </p:spPr>
      </p:pic>
      <p:pic>
        <p:nvPicPr>
          <p:cNvPr id="7" name="Picture 6" descr="foto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6632" y="1600200"/>
            <a:ext cx="2011680" cy="2514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" y="4251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80"/>
                </a:solidFill>
                <a:latin typeface="Montserrat"/>
              </a:rPr>
              <a:t>Registro fotográfico do material ensacado e estocado em lotes.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645920"/>
            <a:ext cx="54864" cy="502920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60020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Origem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874519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Aparas e sobras de corte da indústria de confecção: material limpo, seco e sem uso prévio.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2670048"/>
            <a:ext cx="54864" cy="502920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2624328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Composição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2898648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Mistura de aparas de fibras naturais e sintéticas, padronizada por lote para manter o alto PCI.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694176"/>
            <a:ext cx="54864" cy="502920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3648456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Forma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3922776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Picotado em fragmentos, o que facilita dosagem e alimentação contínua.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4718304"/>
            <a:ext cx="54864" cy="502920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0" y="4672584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Embalagem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946904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Sacos de até 30 kg, com manuseio simples e estocagem organizada por lote.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2" name="Picture 21" descr="logo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Resultados analíticos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Laudo laboratorial: </a:t>
            </a:r>
            <a:r>
              <a:rPr sz="2800" b="1">
                <a:solidFill>
                  <a:srgbClr val="1B1B2F"/>
                </a:solidFill>
                <a:latin typeface="Montserrat"/>
              </a:rPr>
              <a:t>alto poder calorífico e baixo cloro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463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Amostra de tecido triturado (matriz resíduo sólido), analisada por laboratório acreditado em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2103120"/>
            <a:ext cx="3429000" cy="25146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2103120"/>
            <a:ext cx="34290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42316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3432C9"/>
                </a:solidFill>
                <a:latin typeface="Montserrat"/>
              </a:rPr>
              <a:t>9.953,8</a:t>
            </a:r>
            <a:r>
              <a:rPr sz="1400" b="0">
                <a:solidFill>
                  <a:srgbClr val="3432C9"/>
                </a:solidFill>
                <a:latin typeface="Montserrat"/>
              </a:rPr>
              <a:t>  kcal/kg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3375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Poder Calorífico Inferior (PCI, base seca)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9319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Referência mínima: ≥ 1.800 kcal/kg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70832" y="2103120"/>
            <a:ext cx="3429000" cy="25146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2103120"/>
            <a:ext cx="3429000" cy="54864"/>
          </a:xfrm>
          <a:prstGeom prst="rect">
            <a:avLst/>
          </a:prstGeom>
          <a:solidFill>
            <a:srgbClr val="1E86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90872" y="242316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E86C9"/>
                </a:solidFill>
                <a:latin typeface="Montserrat"/>
              </a:rPr>
              <a:t>&lt; 0,05</a:t>
            </a:r>
            <a:r>
              <a:rPr sz="1400" b="0">
                <a:solidFill>
                  <a:srgbClr val="1E86C9"/>
                </a:solidFill>
                <a:latin typeface="Montserrat"/>
              </a:rPr>
              <a:t> 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33375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Cloro (base seca)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39319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Referência máxima: ≤ 1,0 %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82712" y="2103120"/>
            <a:ext cx="3429000" cy="25146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82712" y="2103120"/>
            <a:ext cx="34290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242316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2A87B"/>
                </a:solidFill>
                <a:latin typeface="Montserrat"/>
              </a:rPr>
              <a:t>3,77</a:t>
            </a:r>
            <a:r>
              <a:rPr sz="1400" b="0">
                <a:solidFill>
                  <a:srgbClr val="12A87B"/>
                </a:solidFill>
                <a:latin typeface="Montserrat"/>
              </a:rPr>
              <a:t> 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33375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Umidade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39319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96,23 % de sólidos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8952" y="4892040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758952" y="50292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B1B2F"/>
                </a:solidFill>
                <a:latin typeface="Montserrat"/>
              </a:rPr>
              <a:t>PCS: 10.040,0 kcal/kg  ·  </a:t>
            </a:r>
            <a:r>
              <a:rPr sz="1200" b="1">
                <a:solidFill>
                  <a:srgbClr val="3432C9"/>
                </a:solidFill>
                <a:latin typeface="Montserrat"/>
              </a:rPr>
              <a:t>Conclusão do laudo: </a:t>
            </a:r>
            <a:r>
              <a:rPr sz="1200" b="0">
                <a:solidFill>
                  <a:srgbClr val="1B1B2F"/>
                </a:solidFill>
                <a:latin typeface="Montserrat"/>
              </a:rPr>
              <a:t>os parâmetros de PCI e cloro atendem aos limites da Resolução SIMA nº 145/2021 (art. 5º).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" y="54864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80"/>
                </a:solidFill>
                <a:latin typeface="Montserrat"/>
              </a:rPr>
              <a:t>Resultado da amostra analisada. O alto PCI vem da mistura de fibras, e a composição é mantida em todos os lotes fornecidos.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5" name="Picture 24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Comparativo energético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Mais energia por quilo que os </a:t>
            </a:r>
            <a:r>
              <a:rPr sz="2800" b="1">
                <a:solidFill>
                  <a:srgbClr val="1B1B2F"/>
                </a:solidFill>
                <a:latin typeface="Montserrat"/>
              </a:rPr>
              <a:t>combustíveis tradicionais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463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Poder calorífico inferior (kcal/kg)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148839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B1B2F"/>
                </a:solidFill>
                <a:latin typeface="Montserrat"/>
              </a:rPr>
              <a:t>Resíduo têxtil Nunes &amp; Lucato (laudo)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2103120"/>
            <a:ext cx="6644414" cy="411480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04934" y="2167127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432C9"/>
                </a:solidFill>
                <a:latin typeface="Montserrat"/>
              </a:rPr>
              <a:t>9.954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70632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Óleo combustível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24912"/>
            <a:ext cx="6408115" cy="411480"/>
          </a:xfrm>
          <a:prstGeom prst="rect">
            <a:avLst/>
          </a:prstGeom>
          <a:solidFill>
            <a:srgbClr val="C9CA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68635" y="278892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9.600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3392424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Coque de petróleo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3346704"/>
            <a:ext cx="5340096" cy="411480"/>
          </a:xfrm>
          <a:prstGeom prst="rect">
            <a:avLst/>
          </a:prstGeom>
          <a:solidFill>
            <a:srgbClr val="C9CA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0616" y="3410712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8.000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4014215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Carvão mineral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3968496"/>
            <a:ext cx="4005072" cy="411480"/>
          </a:xfrm>
          <a:prstGeom prst="rect">
            <a:avLst/>
          </a:prstGeom>
          <a:solidFill>
            <a:srgbClr val="C9CA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5592" y="4032504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6.000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4636007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Lenha / cavaco de madeira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4590288"/>
            <a:ext cx="2002536" cy="411480"/>
          </a:xfrm>
          <a:prstGeom prst="rect">
            <a:avLst/>
          </a:prstGeom>
          <a:solidFill>
            <a:srgbClr val="C9CA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63056" y="4654296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3.000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5257799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Mínimo exigido para CDR (SIMA)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5212079"/>
            <a:ext cx="1201521" cy="411480"/>
          </a:xfrm>
          <a:prstGeom prst="rect">
            <a:avLst/>
          </a:prstGeom>
          <a:solidFill>
            <a:srgbClr val="DDDE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2041" y="5276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1.800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76072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80"/>
                </a:solidFill>
                <a:latin typeface="Montserrat"/>
              </a:rPr>
              <a:t>Combustíveis de comparação: valores típicos de referência, que variam conforme origem e qualidade. Resíduo têxtil: PCI em base seca conforme laudo.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6" name="Picture 25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Equivalência energética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B1B2F"/>
                </a:solidFill>
                <a:latin typeface="Montserrat"/>
              </a:rPr>
              <a:t>1 tonelada de resíduo têxtil </a:t>
            </a:r>
            <a:r>
              <a:rPr sz="2800" b="0">
                <a:solidFill>
                  <a:srgbClr val="1B1B2F"/>
                </a:solidFill>
                <a:latin typeface="Montserrat"/>
              </a:rPr>
              <a:t>substitui aproximadamente…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463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≈ 41,7 GJ de energia por tonelada (PCI 9.953,8 kcal/kg)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2194560"/>
            <a:ext cx="2514600" cy="219456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219456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69748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3432C9"/>
                </a:solidFill>
                <a:latin typeface="Montserrat"/>
              </a:rPr>
              <a:t>1,0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56616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1B1B2F"/>
                </a:solidFill>
                <a:latin typeface="Montserrat"/>
              </a:rPr>
              <a:t>de óleo combustível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2194560"/>
            <a:ext cx="2514600" cy="219456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0" y="2194560"/>
            <a:ext cx="2514600" cy="54864"/>
          </a:xfrm>
          <a:prstGeom prst="rect">
            <a:avLst/>
          </a:prstGeom>
          <a:solidFill>
            <a:srgbClr val="1E86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269748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1E86C9"/>
                </a:solidFill>
                <a:latin typeface="Montserrat"/>
              </a:rPr>
              <a:t>1,2 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56616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1B1B2F"/>
                </a:solidFill>
                <a:latin typeface="Montserrat"/>
              </a:rPr>
              <a:t>de coque de petróleo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2194560"/>
            <a:ext cx="2514600" cy="219456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0488" y="2194560"/>
            <a:ext cx="25146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0488" y="269748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12A87B"/>
                </a:solidFill>
                <a:latin typeface="Montserrat"/>
              </a:rPr>
              <a:t>1,7 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356616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1B1B2F"/>
                </a:solidFill>
                <a:latin typeface="Montserrat"/>
              </a:rPr>
              <a:t>de carvão mineral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06256" y="2194560"/>
            <a:ext cx="2514600" cy="219456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06256" y="219456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06256" y="269748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3432C9"/>
                </a:solidFill>
                <a:latin typeface="Montserrat"/>
              </a:rPr>
              <a:t>~1.150 m³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9136" y="356616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1B1B2F"/>
                </a:solidFill>
                <a:latin typeface="Montserrat"/>
              </a:rPr>
              <a:t>de gás natural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58952" y="4709160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758952" y="489204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432C9"/>
                </a:solidFill>
                <a:latin typeface="Montserrat"/>
              </a:rPr>
              <a:t>Menos combustível fóssil comprado, </a:t>
            </a:r>
            <a:r>
              <a:rPr sz="1600" b="0">
                <a:solidFill>
                  <a:srgbClr val="1B1B2F"/>
                </a:solidFill>
                <a:latin typeface="Montserrat"/>
              </a:rPr>
              <a:t>com o mesmo aporte térmico no processo.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48640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80"/>
                </a:solidFill>
                <a:latin typeface="Montserrat"/>
              </a:rPr>
              <a:t>Estimativa teórica por equivalência de PCI, com base nos valores típicos do slide anterior. Taxa real de substituição a validar em teste de queima.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6" name="Picture 25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Aplicações na mineração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Onde o resíduo têxtil </a:t>
            </a:r>
            <a:r>
              <a:rPr sz="2800" b="1">
                <a:solidFill>
                  <a:srgbClr val="1B1B2F"/>
                </a:solidFill>
                <a:latin typeface="Montserrat"/>
              </a:rPr>
              <a:t>gera valor na sua operação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645920"/>
            <a:ext cx="251460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8952" y="164592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19202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432C9"/>
                </a:solidFill>
                <a:latin typeface="Montserra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37744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Fornos de pelotização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2788920"/>
            <a:ext cx="1965960" cy="1691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Substituição parcial do combustível sólido e do gás natural no endurecimento de pelotas.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1645920"/>
            <a:ext cx="251460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0" y="1645920"/>
            <a:ext cx="2514600" cy="54864"/>
          </a:xfrm>
          <a:prstGeom prst="rect">
            <a:avLst/>
          </a:prstGeom>
          <a:solidFill>
            <a:srgbClr val="1E86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0" y="19202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86C9"/>
                </a:solidFill>
                <a:latin typeface="Montserra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37744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Fornos de calcinação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788920"/>
            <a:ext cx="1965960" cy="1691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Aporte térmico em fornos de cal e calcinação de calcário e dolomita.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645920"/>
            <a:ext cx="251460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645920"/>
            <a:ext cx="25146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19202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2A87B"/>
                </a:solidFill>
                <a:latin typeface="Montserrat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37744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Secadores de minério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808" y="2788920"/>
            <a:ext cx="1965960" cy="1691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Geração de calor para secagem de concentrados e minério úmido.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06256" y="1645920"/>
            <a:ext cx="251460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06256" y="164592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0576" y="19202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432C9"/>
                </a:solidFill>
                <a:latin typeface="Montserrat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0576" y="237744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Caldeiras e geradores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0576" y="2788920"/>
            <a:ext cx="1965960" cy="1691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Vapor e energia térmica em caldeiras adaptadas a combustível sólido.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8952" y="4983480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758952" y="512064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432C9"/>
                </a:solidFill>
                <a:latin typeface="Montserrat"/>
              </a:rPr>
              <a:t>Uso como substituição parcial, </a:t>
            </a:r>
            <a:r>
              <a:rPr sz="1200" b="0">
                <a:solidFill>
                  <a:srgbClr val="6B6B80"/>
                </a:solidFill>
                <a:latin typeface="Montserrat"/>
              </a:rPr>
              <a:t>iniciando com teste de queima e dosagem controlada, sujeito ao licenciamento ambiental da unidade consumidora.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8" name="Picture 27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Benefícios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Vantagens para a </a:t>
            </a:r>
            <a:r>
              <a:rPr sz="2800" b="1">
                <a:solidFill>
                  <a:srgbClr val="1B1B2F"/>
                </a:solidFill>
                <a:latin typeface="Montserrat"/>
              </a:rPr>
              <a:t>mineradora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645920"/>
            <a:ext cx="34290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8952" y="1645920"/>
            <a:ext cx="34290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192024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Redução de custo energético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331720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Energia de alto PCI a um custo competitivo frente aos combustíveis convencionais.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0832" y="1645920"/>
            <a:ext cx="34290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0832" y="1645920"/>
            <a:ext cx="3429000" cy="54864"/>
          </a:xfrm>
          <a:prstGeom prst="rect">
            <a:avLst/>
          </a:prstGeom>
          <a:solidFill>
            <a:srgbClr val="1E86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92024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Menos combustível fóssil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331720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Substituição parcial de coque, carvão, óleo ou gás no processo térmico.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82712" y="1645920"/>
            <a:ext cx="34290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2712" y="1645920"/>
            <a:ext cx="34290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2" y="192024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Agenda ESG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2" y="2331720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Economia circular e aterro zero, com indicadores para relatórios de sustentabilidade.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" y="3840480"/>
            <a:ext cx="34290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8952" y="3840480"/>
            <a:ext cx="34290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1" y="411480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Baixo teor de cloro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1" y="4526280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Menor risco de corrosão e incrustação em fornos e dutos.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70832" y="3840480"/>
            <a:ext cx="34290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0832" y="3840480"/>
            <a:ext cx="3429000" cy="54864"/>
          </a:xfrm>
          <a:prstGeom prst="rect">
            <a:avLst/>
          </a:prstGeom>
          <a:solidFill>
            <a:srgbClr val="1E86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5152" y="411480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Baixa umidade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5152" y="4526280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Material seco (3,77 %), com energia útil elevada na queima.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82712" y="3840480"/>
            <a:ext cx="34290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82712" y="3840480"/>
            <a:ext cx="34290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57032" y="411480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Rastreabilidade total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7032" y="4526280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MTR, certificado de destinação e controle por lote, com segurança jurídica.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30" name="Picture 29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Fluxo operacional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Como preparamos o </a:t>
            </a:r>
            <a:r>
              <a:rPr sz="2800" b="1">
                <a:solidFill>
                  <a:srgbClr val="1B1B2F"/>
                </a:solidFill>
                <a:latin typeface="Montserrat"/>
              </a:rPr>
              <a:t>combustível</a:t>
            </a:r>
          </a:p>
        </p:txBody>
      </p:sp>
      <p:sp>
        <p:nvSpPr>
          <p:cNvPr id="5" name="Oval 4"/>
          <p:cNvSpPr/>
          <p:nvPr/>
        </p:nvSpPr>
        <p:spPr>
          <a:xfrm>
            <a:off x="117043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432C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0432" y="192024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3432C9"/>
                </a:solidFill>
                <a:latin typeface="Montserrat"/>
              </a:rPr>
              <a:t>01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84832" y="2331720"/>
            <a:ext cx="868680" cy="0"/>
          </a:xfrm>
          <a:prstGeom prst="line">
            <a:avLst/>
          </a:prstGeom>
          <a:ln w="19050">
            <a:solidFill>
              <a:srgbClr val="DDDEE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758952" y="29260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Coleta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246120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Recolhimento na indústria geradora com MTR</a:t>
            </a:r>
          </a:p>
        </p:txBody>
      </p:sp>
      <p:sp>
        <p:nvSpPr>
          <p:cNvPr id="10" name="Oval 9"/>
          <p:cNvSpPr/>
          <p:nvPr/>
        </p:nvSpPr>
        <p:spPr>
          <a:xfrm>
            <a:off x="297637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432C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6372" y="192024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3432C9"/>
                </a:solidFill>
                <a:latin typeface="Montserrat"/>
              </a:rPr>
              <a:t>02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890772" y="2331720"/>
            <a:ext cx="868680" cy="0"/>
          </a:xfrm>
          <a:prstGeom prst="line">
            <a:avLst/>
          </a:prstGeom>
          <a:ln w="19050">
            <a:solidFill>
              <a:srgbClr val="DDDEEE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2564892" y="29260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Recebimento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4892" y="3246120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Conferência, pesagem e registro</a:t>
            </a:r>
          </a:p>
        </p:txBody>
      </p:sp>
      <p:sp>
        <p:nvSpPr>
          <p:cNvPr id="15" name="Oval 14"/>
          <p:cNvSpPr/>
          <p:nvPr/>
        </p:nvSpPr>
        <p:spPr>
          <a:xfrm>
            <a:off x="478231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432C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82312" y="192024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3432C9"/>
                </a:solidFill>
                <a:latin typeface="Montserrat"/>
              </a:rPr>
              <a:t>03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96712" y="2331720"/>
            <a:ext cx="868680" cy="0"/>
          </a:xfrm>
          <a:prstGeom prst="line">
            <a:avLst/>
          </a:prstGeom>
          <a:ln w="19050">
            <a:solidFill>
              <a:srgbClr val="DDDEEE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4370832" y="29260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Triagem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0832" y="3246120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Retirada de contaminantes e metais</a:t>
            </a:r>
          </a:p>
        </p:txBody>
      </p:sp>
      <p:sp>
        <p:nvSpPr>
          <p:cNvPr id="20" name="Oval 19"/>
          <p:cNvSpPr/>
          <p:nvPr/>
        </p:nvSpPr>
        <p:spPr>
          <a:xfrm>
            <a:off x="658825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432C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8252" y="192024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3432C9"/>
                </a:solidFill>
                <a:latin typeface="Montserrat"/>
              </a:rPr>
              <a:t>04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502652" y="2331720"/>
            <a:ext cx="868680" cy="0"/>
          </a:xfrm>
          <a:prstGeom prst="line">
            <a:avLst/>
          </a:prstGeom>
          <a:ln w="19050">
            <a:solidFill>
              <a:srgbClr val="DDDEEE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6176772" y="29260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Picotagem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6772" y="3246120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Granulometria sob especificação</a:t>
            </a:r>
          </a:p>
        </p:txBody>
      </p:sp>
      <p:sp>
        <p:nvSpPr>
          <p:cNvPr id="25" name="Oval 24"/>
          <p:cNvSpPr/>
          <p:nvPr/>
        </p:nvSpPr>
        <p:spPr>
          <a:xfrm>
            <a:off x="839419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432C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94192" y="192024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3432C9"/>
                </a:solidFill>
                <a:latin typeface="Montserrat"/>
              </a:rPr>
              <a:t>05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308592" y="2331720"/>
            <a:ext cx="868680" cy="0"/>
          </a:xfrm>
          <a:prstGeom prst="line">
            <a:avLst/>
          </a:prstGeom>
          <a:ln w="19050">
            <a:solidFill>
              <a:srgbClr val="DDDEEE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7982712" y="29260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Ensacamento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82712" y="3246120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Sacos de até 30 kg, por lote</a:t>
            </a:r>
          </a:p>
        </p:txBody>
      </p:sp>
      <p:sp>
        <p:nvSpPr>
          <p:cNvPr id="30" name="Oval 29"/>
          <p:cNvSpPr/>
          <p:nvPr/>
        </p:nvSpPr>
        <p:spPr>
          <a:xfrm>
            <a:off x="1020013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2A8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00132" y="192024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2A87B"/>
                </a:solidFill>
                <a:latin typeface="Montserrat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8652" y="29260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Expedição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8652" y="3246120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Entrega programada com MTR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8952" y="4297680"/>
            <a:ext cx="10671048" cy="14173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58952" y="4297680"/>
            <a:ext cx="54864" cy="1417320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48056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3432C9"/>
                </a:solidFill>
                <a:latin typeface="Montserrat"/>
              </a:rPr>
              <a:t>Estrutura própria de preparação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Área de armazenagem coberta, organizada por lotes, e picotagem própria para adequar o material à alimentação do forno do cliente, com fornecimento regular e programado.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38" name="Picture 37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Capacidade e logística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Fornecimento recorrente de </a:t>
            </a:r>
            <a:r>
              <a:rPr sz="2800" b="1">
                <a:solidFill>
                  <a:srgbClr val="1B1B2F"/>
                </a:solidFill>
                <a:latin typeface="Montserrat"/>
              </a:rPr>
              <a:t>1.000 toneladas por mês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463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Base operacional em São Paulo/SP (Belenzinho), com entrega programada na unidade do cliente.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2103120"/>
            <a:ext cx="2514600" cy="237744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210312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237744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3432C9"/>
                </a:solidFill>
                <a:latin typeface="Montserrat"/>
              </a:rPr>
              <a:t>1.000</a:t>
            </a:r>
            <a:r>
              <a:rPr sz="1100" b="0">
                <a:solidFill>
                  <a:srgbClr val="3432C9"/>
                </a:solidFill>
                <a:latin typeface="Montserrat"/>
              </a:rPr>
              <a:t> t/mês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2461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Volume disponível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361188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Fornecimento contínuo e programado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2103120"/>
            <a:ext cx="2514600" cy="237744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2103120"/>
            <a:ext cx="2514600" cy="54864"/>
          </a:xfrm>
          <a:prstGeom prst="rect">
            <a:avLst/>
          </a:prstGeom>
          <a:solidFill>
            <a:srgbClr val="1E86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237744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E86C9"/>
                </a:solidFill>
                <a:latin typeface="Montserrat"/>
              </a:rPr>
              <a:t>14</a:t>
            </a:r>
            <a:r>
              <a:rPr sz="1100" b="0">
                <a:solidFill>
                  <a:srgbClr val="1E86C9"/>
                </a:solidFill>
                <a:latin typeface="Montserrat"/>
              </a:rPr>
              <a:t>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32461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Por carga (truck)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361188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Sacos de até 30 kg, carga padronizada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0488" y="2103120"/>
            <a:ext cx="2514600" cy="237744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2103120"/>
            <a:ext cx="25146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4808" y="237744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A87B"/>
                </a:solidFill>
                <a:latin typeface="Montserrat"/>
              </a:rPr>
              <a:t>~72</a:t>
            </a:r>
            <a:r>
              <a:rPr sz="1100" b="0">
                <a:solidFill>
                  <a:srgbClr val="12A87B"/>
                </a:solidFill>
                <a:latin typeface="Montserrat"/>
              </a:rPr>
              <a:t> cargas/mês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808" y="32461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Entregas mensais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361188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Cerca de 3 cargas por dia útil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06256" y="2103120"/>
            <a:ext cx="2514600" cy="237744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06256" y="210312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37744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3432C9"/>
                </a:solidFill>
                <a:latin typeface="Montserrat"/>
              </a:rPr>
              <a:t>~41.700</a:t>
            </a:r>
            <a:r>
              <a:rPr sz="1100" b="0">
                <a:solidFill>
                  <a:srgbClr val="3432C9"/>
                </a:solidFill>
                <a:latin typeface="Montserrat"/>
              </a:rPr>
              <a:t> GJ/mês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0576" y="32461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Energia disponível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361188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≈ 9,95 bilhões de kcal/mês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8952" y="4800600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758952" y="49834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432C9"/>
                </a:solidFill>
                <a:latin typeface="Montserrat"/>
              </a:rPr>
              <a:t>Volume recorrente e escala </a:t>
            </a:r>
            <a:r>
              <a:rPr sz="1300" b="0">
                <a:solidFill>
                  <a:srgbClr val="1B1B2F"/>
                </a:solidFill>
                <a:latin typeface="Montserrat"/>
              </a:rPr>
              <a:t>para substituir parte relevante do combustível do processo, com cronograma de entregas combinado com a operação.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" y="557784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80"/>
                </a:solidFill>
                <a:latin typeface="Montserrat"/>
              </a:rPr>
              <a:t>Energia calculada pelo PCI em base seca do laudo (9.953,8 kcal/kg ≈ 41,7 MJ/kg).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30" name="Picture 29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Especificação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Ficha técnica do </a:t>
            </a:r>
            <a:r>
              <a:rPr sz="2800" b="1">
                <a:solidFill>
                  <a:srgbClr val="1B1B2F"/>
                </a:solidFill>
                <a:latin typeface="Montserrat"/>
              </a:rPr>
              <a:t>produto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58952" y="1554480"/>
          <a:ext cx="10671048" cy="4389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7379208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Produto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Resíduo têxtil pós-industrial picotado (mistura de fibras)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Aplicação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Combustível alternativo sólido (substituição parcial)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PCI (base seca)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9.953,8 kcal/kg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PCS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10.040,0 kcal/kg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Cloro (base seca)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&lt; 0,05 %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Umidade  /  Sólidos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3,77 %  /  96,23 %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Granulometria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Picotado, com dimensão ajustável à especificação do cliente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Embalagem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Sacos de até 30 kg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Capacidade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Até 1.000 t/mês, em cargas de 14 t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Documentação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Laudo analítico, MTR e certificado de destinação por lote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6" name="Connector 5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Conformidade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Rastreabilidade e </a:t>
            </a:r>
            <a:r>
              <a:rPr sz="2800" b="1">
                <a:solidFill>
                  <a:srgbClr val="1B1B2F"/>
                </a:solidFill>
                <a:latin typeface="Montserrat"/>
              </a:rPr>
              <a:t>conformidade ambiental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645920"/>
            <a:ext cx="25146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8952" y="164592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192024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MTR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560320"/>
            <a:ext cx="196596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Manifesto de Transporte de Resíduos emitido em cada coleta e expedição.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645920"/>
            <a:ext cx="25146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64592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192024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Laudo analítico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560320"/>
            <a:ext cx="196596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Caracterização energética (PCI, cloro, umidade) do material fornecido.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1645920"/>
            <a:ext cx="25146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164592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192024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Controle por lote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8" y="2560320"/>
            <a:ext cx="196596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Registro fotográfico, pesagem e identificação de cada lote.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06256" y="1645920"/>
            <a:ext cx="25146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06256" y="1645920"/>
            <a:ext cx="25146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192024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Destinação comprovada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0576" y="2560320"/>
            <a:ext cx="196596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Certificado de destinação final ambientalmente adequada.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8952" y="4297680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758952" y="448056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>
                <a:solidFill>
                  <a:srgbClr val="3432C9"/>
                </a:solidFill>
                <a:latin typeface="Montserrat"/>
              </a:rPr>
              <a:t>Rastreabilidade completa: </a:t>
            </a:r>
            <a:r>
              <a:rPr sz="1500" b="0">
                <a:solidFill>
                  <a:srgbClr val="1B1B2F"/>
                </a:solidFill>
                <a:latin typeface="Montserrat"/>
              </a:rPr>
              <a:t>da indústria geradora ao forno da mineradora.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Apoio técnico à mineradora nas etapas de licenciamento para uso de combustível derivado de resíduo (ex.: Resolução SIMA nº 47/2020 no Estado de São Paulo).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4" name="Picture 23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Implantação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Próximos </a:t>
            </a:r>
            <a:r>
              <a:rPr sz="2800" b="1">
                <a:solidFill>
                  <a:srgbClr val="1B1B2F"/>
                </a:solidFill>
                <a:latin typeface="Montserrat"/>
              </a:rPr>
              <a:t>passos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828800"/>
            <a:ext cx="2011680" cy="27432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8952" y="1828800"/>
            <a:ext cx="201168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1031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3432C9"/>
                </a:solidFill>
                <a:latin typeface="Montserra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7432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Envio de amostra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33756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Material representativo para análise da mineradora.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828800"/>
            <a:ext cx="2011680" cy="27432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26080" y="1828800"/>
            <a:ext cx="201168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54680" y="21031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3432C9"/>
                </a:solidFill>
                <a:latin typeface="Montserra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27432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Teste de queima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333756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Ensaio controlado no equipamento de destino.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93208" y="1828800"/>
            <a:ext cx="2011680" cy="27432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93208" y="1828800"/>
            <a:ext cx="201168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21808" y="21031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3432C9"/>
                </a:solidFill>
                <a:latin typeface="Montserrat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21808" y="27432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Licenciamento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8" y="333756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Adequação da licença para uso do combustível alternativo.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0336" y="1828800"/>
            <a:ext cx="2011680" cy="27432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60336" y="1828800"/>
            <a:ext cx="201168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88936" y="21031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3432C9"/>
                </a:solidFill>
                <a:latin typeface="Montserrat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88936" y="27432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Fornecimento piloto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936" y="333756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Lotes iniciais com monitoramento de desempenho.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27464" y="1828800"/>
            <a:ext cx="2011680" cy="27432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27464" y="1828800"/>
            <a:ext cx="201168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56064" y="21031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12A87B"/>
                </a:solidFill>
                <a:latin typeface="Montserrat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6064" y="27432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Contrato contínuo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6064" y="333756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Fornecimento regular e programado.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" y="489204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432C9"/>
                </a:solidFill>
                <a:latin typeface="Montserrat"/>
              </a:rPr>
              <a:t>Solicitamos cotação formal em R$/t </a:t>
            </a:r>
            <a:r>
              <a:rPr sz="1200" b="0">
                <a:solidFill>
                  <a:srgbClr val="6B6B80"/>
                </a:solidFill>
                <a:latin typeface="Montserrat"/>
              </a:rPr>
              <a:t>para o fornecimento de 1.000 t/mês com entrega programada na unidade do cliente. As condições finais serão definidas em reunião.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32" name="Picture 31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A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89520" cy="6858000"/>
          </a:xfrm>
          <a:prstGeom prst="rect">
            <a:avLst/>
          </a:prstGeom>
          <a:gradFill rotWithShape="1">
            <a:gsLst>
              <a:gs pos="0">
                <a:srgbClr val="0B0A1F"/>
              </a:gs>
              <a:gs pos="100000">
                <a:srgbClr val="1E1D72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fim_duot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0"/>
            <a:ext cx="4602175" cy="68580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 flipV="1">
            <a:off x="-1828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-1143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-457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28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9144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600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286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971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3657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43434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5029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5715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400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7086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758952" y="1280160"/>
            <a:ext cx="292608" cy="0"/>
          </a:xfrm>
          <a:prstGeom prst="line">
            <a:avLst/>
          </a:prstGeom>
          <a:ln w="12700">
            <a:solidFill>
              <a:srgbClr val="C9CAE8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1170432" y="11887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C9CAE8"/>
                </a:solidFill>
                <a:latin typeface="Montserrat"/>
              </a:rPr>
              <a:t>Nunes &amp; Lucato  ·  Mineração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1600200"/>
            <a:ext cx="6400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FFFFFF"/>
                </a:solidFill>
                <a:latin typeface="Montserrat"/>
              </a:rPr>
              <a:t>Transformar o resíduo têxtil em </a:t>
            </a:r>
            <a:r>
              <a:rPr sz="2200" b="1">
                <a:solidFill>
                  <a:srgbClr val="FFFFFF"/>
                </a:solidFill>
                <a:latin typeface="Montserrat"/>
              </a:rPr>
              <a:t>energia para a mineração</a:t>
            </a:r>
            <a:r>
              <a:rPr sz="2200" b="0">
                <a:solidFill>
                  <a:srgbClr val="FFFFFF"/>
                </a:solidFill>
                <a:latin typeface="Montserrat"/>
              </a:rPr>
              <a:t> reduz custos, diminui o uso de combustíveis fósseis e fortalece a sua </a:t>
            </a:r>
            <a:r>
              <a:rPr sz="2200" b="1">
                <a:solidFill>
                  <a:srgbClr val="FFFFFF"/>
                </a:solidFill>
                <a:latin typeface="Montserrat"/>
              </a:rPr>
              <a:t>agenda de economia circular</a:t>
            </a:r>
            <a:r>
              <a:rPr sz="2200" b="0">
                <a:solidFill>
                  <a:srgbClr val="FFFFFF"/>
                </a:solidFill>
                <a:latin typeface="Montserrat"/>
              </a:rPr>
              <a:t>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8952" y="4160520"/>
            <a:ext cx="1005840" cy="0"/>
          </a:xfrm>
          <a:prstGeom prst="line">
            <a:avLst/>
          </a:prstGeom>
          <a:ln w="12700">
            <a:solidFill>
              <a:srgbClr val="C9CAE8"/>
            </a:solidFill>
          </a:ln>
        </p:spPr>
      </p:cxnSp>
      <p:pic>
        <p:nvPicPr>
          <p:cNvPr id="22" name="Picture 21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4389120"/>
            <a:ext cx="2108672" cy="502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8952" y="5166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C9CAE8"/>
                </a:solidFill>
                <a:latin typeface="Montserrat"/>
              </a:rPr>
              <a:t>“Transformando resíduos em valor.”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Resíduo têxtil como combustível alternativo para a mineração</dc:title>
  <dc:subject>Proposta comercial Nunes &amp; Lucato</dc:subject>
  <dc:creator>Nunes &amp; Lucato</dc:creator>
  <cp:keywords/>
  <dc:description/>
  <cp:lastModifiedBy>Nunes &amp; Lucato</cp:lastModifiedBy>
  <cp:revision>1</cp:revision>
  <dcterms:created xsi:type="dcterms:W3CDTF">2013-01-27T09:14:16Z</dcterms:created>
  <dcterms:modified xsi:type="dcterms:W3CDTF">2013-01-27T09:15:58Z</dcterms:modified>
  <cp:category/>
</cp:coreProperties>
</file>